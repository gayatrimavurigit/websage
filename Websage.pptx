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Lst>
  <p:notesMasterIdLst>
    <p:notesMasterId r:id="rId22"/>
  </p:notesMasterIdLst>
  <p:sldIdLst>
    <p:sldId id="256" r:id="rId2"/>
    <p:sldId id="264" r:id="rId3"/>
    <p:sldId id="273" r:id="rId4"/>
    <p:sldId id="274" r:id="rId5"/>
    <p:sldId id="282" r:id="rId6"/>
    <p:sldId id="288" r:id="rId7"/>
    <p:sldId id="283" r:id="rId8"/>
    <p:sldId id="284" r:id="rId9"/>
    <p:sldId id="285" r:id="rId10"/>
    <p:sldId id="286" r:id="rId11"/>
    <p:sldId id="297" r:id="rId12"/>
    <p:sldId id="289" r:id="rId13"/>
    <p:sldId id="290" r:id="rId14"/>
    <p:sldId id="291" r:id="rId15"/>
    <p:sldId id="292" r:id="rId16"/>
    <p:sldId id="293" r:id="rId17"/>
    <p:sldId id="294" r:id="rId18"/>
    <p:sldId id="295" r:id="rId19"/>
    <p:sldId id="296" r:id="rId20"/>
    <p:sldId id="281" r:id="rId21"/>
  </p:sldIdLst>
  <p:sldSz cx="9144000" cy="5143500" type="screen16x9"/>
  <p:notesSz cx="6858000" cy="9144000"/>
  <p:embeddedFontLst>
    <p:embeddedFont>
      <p:font typeface="Montserrat" panose="00000500000000000000" pitchFamily="2" charset="0"/>
      <p:regular r:id="rId23"/>
      <p:bold r:id="rId24"/>
      <p:italic r:id="rId25"/>
      <p:boldItalic r:id="rId26"/>
    </p:embeddedFont>
    <p:embeddedFont>
      <p:font typeface="Vidaloka" panose="020B0604020202020204" charset="0"/>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94F976-9D6D-4152-999B-2972BEFF7C3B}">
  <a:tblStyle styleId="{A994F976-9D6D-4152-999B-2972BEFF7C3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27" autoAdjust="0"/>
    <p:restoredTop sz="94660"/>
  </p:normalViewPr>
  <p:slideViewPr>
    <p:cSldViewPr snapToGrid="0">
      <p:cViewPr varScale="1">
        <p:scale>
          <a:sx n="116" d="100"/>
          <a:sy n="116" d="100"/>
        </p:scale>
        <p:origin x="677"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cc7554a049_0_3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cc7554a049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Shape 138"/>
        <p:cNvGrpSpPr/>
        <p:nvPr/>
      </p:nvGrpSpPr>
      <p:grpSpPr>
        <a:xfrm>
          <a:off x="0" y="0"/>
          <a:ext cx="0" cy="0"/>
          <a:chOff x="0" y="0"/>
          <a:chExt cx="0" cy="0"/>
        </a:xfrm>
      </p:grpSpPr>
      <p:sp>
        <p:nvSpPr>
          <p:cNvPr id="139" name="Google Shape;139;p19"/>
          <p:cNvSpPr txBox="1">
            <a:spLocks noGrp="1"/>
          </p:cNvSpPr>
          <p:nvPr>
            <p:ph type="title"/>
          </p:nvPr>
        </p:nvSpPr>
        <p:spPr>
          <a:xfrm>
            <a:off x="845550" y="1482825"/>
            <a:ext cx="7452900" cy="1291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9000"/>
              <a:buNone/>
              <a:defRPr sz="7000"/>
            </a:lvl1pPr>
            <a:lvl2pPr lvl="1" algn="ctr" rtl="0">
              <a:spcBef>
                <a:spcPts val="0"/>
              </a:spcBef>
              <a:spcAft>
                <a:spcPts val="0"/>
              </a:spcAft>
              <a:buSzPts val="9000"/>
              <a:buNone/>
              <a:defRPr sz="9000"/>
            </a:lvl2pPr>
            <a:lvl3pPr lvl="2" algn="ctr" rtl="0">
              <a:spcBef>
                <a:spcPts val="0"/>
              </a:spcBef>
              <a:spcAft>
                <a:spcPts val="0"/>
              </a:spcAft>
              <a:buSzPts val="9000"/>
              <a:buNone/>
              <a:defRPr sz="9000"/>
            </a:lvl3pPr>
            <a:lvl4pPr lvl="3" algn="ctr" rtl="0">
              <a:spcBef>
                <a:spcPts val="0"/>
              </a:spcBef>
              <a:spcAft>
                <a:spcPts val="0"/>
              </a:spcAft>
              <a:buSzPts val="9000"/>
              <a:buNone/>
              <a:defRPr sz="9000"/>
            </a:lvl4pPr>
            <a:lvl5pPr lvl="4" algn="ctr" rtl="0">
              <a:spcBef>
                <a:spcPts val="0"/>
              </a:spcBef>
              <a:spcAft>
                <a:spcPts val="0"/>
              </a:spcAft>
              <a:buSzPts val="9000"/>
              <a:buNone/>
              <a:defRPr sz="9000"/>
            </a:lvl5pPr>
            <a:lvl6pPr lvl="5" algn="ctr" rtl="0">
              <a:spcBef>
                <a:spcPts val="0"/>
              </a:spcBef>
              <a:spcAft>
                <a:spcPts val="0"/>
              </a:spcAft>
              <a:buSzPts val="9000"/>
              <a:buNone/>
              <a:defRPr sz="9000"/>
            </a:lvl6pPr>
            <a:lvl7pPr lvl="6" algn="ctr" rtl="0">
              <a:spcBef>
                <a:spcPts val="0"/>
              </a:spcBef>
              <a:spcAft>
                <a:spcPts val="0"/>
              </a:spcAft>
              <a:buSzPts val="9000"/>
              <a:buNone/>
              <a:defRPr sz="9000"/>
            </a:lvl7pPr>
            <a:lvl8pPr lvl="7" algn="ctr" rtl="0">
              <a:spcBef>
                <a:spcPts val="0"/>
              </a:spcBef>
              <a:spcAft>
                <a:spcPts val="0"/>
              </a:spcAft>
              <a:buSzPts val="9000"/>
              <a:buNone/>
              <a:defRPr sz="9000"/>
            </a:lvl8pPr>
            <a:lvl9pPr lvl="8" algn="ctr" rtl="0">
              <a:spcBef>
                <a:spcPts val="0"/>
              </a:spcBef>
              <a:spcAft>
                <a:spcPts val="0"/>
              </a:spcAft>
              <a:buSzPts val="9000"/>
              <a:buNone/>
              <a:defRPr sz="9000"/>
            </a:lvl9pPr>
          </a:lstStyle>
          <a:p>
            <a:endParaRPr/>
          </a:p>
        </p:txBody>
      </p:sp>
      <p:sp>
        <p:nvSpPr>
          <p:cNvPr id="140" name="Google Shape;140;p19"/>
          <p:cNvSpPr txBox="1">
            <a:spLocks noGrp="1"/>
          </p:cNvSpPr>
          <p:nvPr>
            <p:ph type="subTitle" idx="1"/>
          </p:nvPr>
        </p:nvSpPr>
        <p:spPr>
          <a:xfrm>
            <a:off x="2299500" y="2972150"/>
            <a:ext cx="4545000" cy="5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cxnSp>
        <p:nvCxnSpPr>
          <p:cNvPr id="141" name="Google Shape;141;p1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2" name="Google Shape;142;p1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455"/>
        <p:cNvGrpSpPr/>
        <p:nvPr/>
      </p:nvGrpSpPr>
      <p:grpSpPr>
        <a:xfrm>
          <a:off x="0" y="0"/>
          <a:ext cx="0" cy="0"/>
          <a:chOff x="0" y="0"/>
          <a:chExt cx="0" cy="0"/>
        </a:xfrm>
      </p:grpSpPr>
      <p:cxnSp>
        <p:nvCxnSpPr>
          <p:cNvPr id="456" name="Google Shape;456;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7" name="Google Shape;457;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458"/>
        <p:cNvGrpSpPr/>
        <p:nvPr/>
      </p:nvGrpSpPr>
      <p:grpSpPr>
        <a:xfrm>
          <a:off x="0" y="0"/>
          <a:ext cx="0" cy="0"/>
          <a:chOff x="0" y="0"/>
          <a:chExt cx="0" cy="0"/>
        </a:xfrm>
      </p:grpSpPr>
      <p:cxnSp>
        <p:nvCxnSpPr>
          <p:cNvPr id="459" name="Google Shape;459;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1" name="Google Shape;461;p52"/>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2" name="Google Shape;462;p52"/>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463"/>
        <p:cNvGrpSpPr/>
        <p:nvPr/>
      </p:nvGrpSpPr>
      <p:grpSpPr>
        <a:xfrm>
          <a:off x="0" y="0"/>
          <a:ext cx="0" cy="0"/>
          <a:chOff x="0" y="0"/>
          <a:chExt cx="0" cy="0"/>
        </a:xfrm>
      </p:grpSpPr>
      <p:cxnSp>
        <p:nvCxnSpPr>
          <p:cNvPr id="464" name="Google Shape;464;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5" name="Google Shape;465;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6" name="Google Shape;466;p53"/>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Shape 467"/>
        <p:cNvGrpSpPr/>
        <p:nvPr/>
      </p:nvGrpSpPr>
      <p:grpSpPr>
        <a:xfrm>
          <a:off x="0" y="0"/>
          <a:ext cx="0" cy="0"/>
          <a:chOff x="0" y="0"/>
          <a:chExt cx="0" cy="0"/>
        </a:xfrm>
      </p:grpSpPr>
      <p:cxnSp>
        <p:nvCxnSpPr>
          <p:cNvPr id="468" name="Google Shape;468;p5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9" name="Google Shape;469;p5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0" name="Google Shape;470;p5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1" name="Google Shape;471;p5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2" name="Google Shape;472;p5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3" name="Google Shape;473;p54"/>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58" r:id="rId3"/>
    <p:sldLayoutId id="2147483665" r:id="rId4"/>
    <p:sldLayoutId id="2147483697" r:id="rId5"/>
    <p:sldLayoutId id="2147483698" r:id="rId6"/>
    <p:sldLayoutId id="2147483699" r:id="rId7"/>
    <p:sldLayoutId id="2147483700"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s://journals.sagepub.com/doi/10.1177/00222429221100750" TargetMode="External"/><Relationship Id="rId2" Type="http://schemas.openxmlformats.org/officeDocument/2006/relationships/hyperlink" Target="https://www.researchgate.net/publication/228095933_Web_Data_Extraction_Applications_and_Techniques_A_Survey" TargetMode="External"/><Relationship Id="rId1" Type="http://schemas.openxmlformats.org/officeDocument/2006/relationships/slideLayout" Target="../slideLayouts/slideLayout4.xml"/><Relationship Id="rId4" Type="http://schemas.openxmlformats.org/officeDocument/2006/relationships/hyperlink" Target="https://www.researchgate.net/publication/391435093_Intelligent_Semantic_Search_for_Academic_Journals_Using_AI_and_NLP_Techniques"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60"/>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p>
            <a:r>
              <a:rPr lang="en-US" sz="2400" b="1" dirty="0" err="1"/>
              <a:t>WebSage</a:t>
            </a:r>
            <a:r>
              <a:rPr lang="en-US" sz="2400" b="1" dirty="0"/>
              <a:t>: AI-Powered Web Scraping and Semantic Analysis Framework for Product Insights and Decision Support</a:t>
            </a:r>
            <a:endParaRPr lang="en-I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8"/>
                                        </p:tgtEl>
                                        <p:attrNameLst>
                                          <p:attrName>style.visibility</p:attrName>
                                        </p:attrNameLst>
                                      </p:cBhvr>
                                      <p:to>
                                        <p:strVal val="visible"/>
                                      </p:to>
                                    </p:set>
                                    <p:anim calcmode="lin" valueType="num">
                                      <p:cBhvr additive="base">
                                        <p:cTn id="7" dur="1000"/>
                                        <p:tgtEl>
                                          <p:spTgt spid="48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 name="TextBox 4">
            <a:extLst>
              <a:ext uri="{FF2B5EF4-FFF2-40B4-BE49-F238E27FC236}">
                <a16:creationId xmlns:a16="http://schemas.microsoft.com/office/drawing/2014/main" id="{40B3D48D-2108-B2BD-DFA2-7A69DD0032A4}"/>
              </a:ext>
            </a:extLst>
          </p:cNvPr>
          <p:cNvSpPr txBox="1"/>
          <p:nvPr/>
        </p:nvSpPr>
        <p:spPr>
          <a:xfrm>
            <a:off x="542719" y="602629"/>
            <a:ext cx="4650940" cy="338554"/>
          </a:xfrm>
          <a:prstGeom prst="rect">
            <a:avLst/>
          </a:prstGeom>
          <a:noFill/>
        </p:spPr>
        <p:txBody>
          <a:bodyPr wrap="square">
            <a:spAutoFit/>
          </a:bodyPr>
          <a:lstStyle/>
          <a:p>
            <a:r>
              <a:rPr lang="en-IN" sz="1600" b="1" dirty="0"/>
              <a:t>ABSTRACT:</a:t>
            </a:r>
          </a:p>
        </p:txBody>
      </p:sp>
      <p:sp>
        <p:nvSpPr>
          <p:cNvPr id="7" name="TextBox 6">
            <a:extLst>
              <a:ext uri="{FF2B5EF4-FFF2-40B4-BE49-F238E27FC236}">
                <a16:creationId xmlns:a16="http://schemas.microsoft.com/office/drawing/2014/main" id="{6AAE7344-FA71-BEFD-4475-9B90FBBA3150}"/>
              </a:ext>
            </a:extLst>
          </p:cNvPr>
          <p:cNvSpPr txBox="1"/>
          <p:nvPr/>
        </p:nvSpPr>
        <p:spPr>
          <a:xfrm>
            <a:off x="598636" y="1102586"/>
            <a:ext cx="7775689" cy="3105145"/>
          </a:xfrm>
          <a:prstGeom prst="rect">
            <a:avLst/>
          </a:prstGeom>
          <a:noFill/>
        </p:spPr>
        <p:txBody>
          <a:bodyPr wrap="square">
            <a:spAutoFit/>
          </a:bodyPr>
          <a:lstStyle/>
          <a:p>
            <a:pPr algn="just">
              <a:lnSpc>
                <a:spcPct val="150000"/>
              </a:lnSpc>
            </a:pPr>
            <a:r>
              <a:rPr lang="en-US" sz="1200" dirty="0" err="1"/>
              <a:t>WebSage</a:t>
            </a:r>
            <a:r>
              <a:rPr lang="en-US" sz="1200" dirty="0"/>
              <a:t> is an intelligent AI-powered web scraping tool designed to extract, analyze, and present product information from websites in a structured and meaningful way. Unlike traditional scrapers that only provide raw data, </a:t>
            </a:r>
            <a:r>
              <a:rPr lang="en-US" sz="1200" dirty="0" err="1"/>
              <a:t>WebSage</a:t>
            </a:r>
            <a:r>
              <a:rPr lang="en-US" sz="1200" dirty="0"/>
              <a:t> integrates web scraping, multi-language semantic analysis, and data visualization into a single platform. Using </a:t>
            </a:r>
            <a:r>
              <a:rPr lang="en-US" sz="1200" dirty="0" err="1"/>
              <a:t>BeautifulSoup</a:t>
            </a:r>
            <a:r>
              <a:rPr lang="en-US" sz="1200" dirty="0"/>
              <a:t> and Requests, the system collects product details such as prices, descriptions, and features. The Gemini API enables multi-language semantic search and natural language question answering, allowing users to query products in simple conversational language across different languages. The extracted data is further analyzed and visualized through Matplotlib, Seaborn, and </a:t>
            </a:r>
            <a:r>
              <a:rPr lang="en-US" sz="1200" dirty="0" err="1"/>
              <a:t>Plotly</a:t>
            </a:r>
            <a:r>
              <a:rPr lang="en-US" sz="1200" dirty="0"/>
              <a:t>, offering insights like price trends, feature comparisons, and brand analysis. A user-friendly interface built with </a:t>
            </a:r>
            <a:r>
              <a:rPr lang="en-US" sz="1200" dirty="0" err="1"/>
              <a:t>Streamlit</a:t>
            </a:r>
            <a:r>
              <a:rPr lang="en-US" sz="1200" dirty="0"/>
              <a:t> makes the tool accessible to both technical and non-technical users. </a:t>
            </a:r>
            <a:r>
              <a:rPr lang="en-US" sz="1200" dirty="0" err="1"/>
              <a:t>WebSage</a:t>
            </a:r>
            <a:r>
              <a:rPr lang="en-US" sz="1200" dirty="0"/>
              <a:t> is designed to support businesses, researchers, and consumers by providing real-time, scalable, and actionable insights for smarter decision-making.</a:t>
            </a:r>
            <a:endParaRPr lang="en-IN"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09D778-7D3A-63B4-807C-30577D5FB603}"/>
              </a:ext>
            </a:extLst>
          </p:cNvPr>
          <p:cNvSpPr txBox="1"/>
          <p:nvPr/>
        </p:nvSpPr>
        <p:spPr>
          <a:xfrm>
            <a:off x="513116" y="517928"/>
            <a:ext cx="8512472" cy="4259308"/>
          </a:xfrm>
          <a:prstGeom prst="rect">
            <a:avLst/>
          </a:prstGeom>
          <a:noFill/>
        </p:spPr>
        <p:txBody>
          <a:bodyPr wrap="square">
            <a:spAutoFit/>
          </a:bodyPr>
          <a:lstStyle/>
          <a:p>
            <a:pPr>
              <a:buNone/>
            </a:pPr>
            <a:r>
              <a:rPr lang="en-US" sz="1800" b="1" dirty="0"/>
              <a:t>Understand Web Scraping &amp; Define System Scope</a:t>
            </a:r>
          </a:p>
          <a:p>
            <a:pPr>
              <a:buNone/>
            </a:pPr>
            <a:endParaRPr lang="en-US" sz="1800" b="1" dirty="0"/>
          </a:p>
          <a:p>
            <a:pPr>
              <a:lnSpc>
                <a:spcPct val="150000"/>
              </a:lnSpc>
            </a:pPr>
            <a:r>
              <a:rPr lang="en-US" sz="1200" b="1" dirty="0"/>
              <a:t>Activities Performed</a:t>
            </a:r>
          </a:p>
          <a:p>
            <a:pPr>
              <a:lnSpc>
                <a:spcPct val="150000"/>
              </a:lnSpc>
            </a:pPr>
            <a:r>
              <a:rPr lang="en-US" sz="1200" dirty="0"/>
              <a:t>Collected and reviewed </a:t>
            </a:r>
            <a:r>
              <a:rPr lang="en-US" sz="1200" b="1" dirty="0"/>
              <a:t>research papers and technical articles</a:t>
            </a:r>
            <a:r>
              <a:rPr lang="en-US" sz="1200" dirty="0"/>
              <a:t> on modern web-scraping techniques.</a:t>
            </a:r>
          </a:p>
          <a:p>
            <a:pPr>
              <a:lnSpc>
                <a:spcPct val="150000"/>
              </a:lnSpc>
            </a:pPr>
            <a:r>
              <a:rPr lang="en-US" sz="1200" dirty="0" err="1"/>
              <a:t>Analysed</a:t>
            </a:r>
            <a:r>
              <a:rPr lang="en-US" sz="1200" dirty="0"/>
              <a:t> </a:t>
            </a:r>
            <a:r>
              <a:rPr lang="en-US" sz="1200" b="1" dirty="0"/>
              <a:t>use cases</a:t>
            </a:r>
            <a:r>
              <a:rPr lang="en-US" sz="1200" dirty="0"/>
              <a:t> such as e-commerce product extraction, news aggregation, and academic data collection.</a:t>
            </a:r>
          </a:p>
          <a:p>
            <a:pPr>
              <a:lnSpc>
                <a:spcPct val="150000"/>
              </a:lnSpc>
            </a:pPr>
            <a:r>
              <a:rPr lang="en-US" sz="1200" dirty="0"/>
              <a:t>Defined the </a:t>
            </a:r>
            <a:r>
              <a:rPr lang="en-US" sz="1200" b="1" dirty="0"/>
              <a:t>scope of the project “</a:t>
            </a:r>
            <a:r>
              <a:rPr lang="en-US" sz="1200" b="1" dirty="0" err="1"/>
              <a:t>WebSage</a:t>
            </a:r>
            <a:r>
              <a:rPr lang="en-US" sz="1200" b="1" dirty="0"/>
              <a:t>”</a:t>
            </a:r>
            <a:r>
              <a:rPr lang="en-US" sz="1200" dirty="0"/>
              <a:t>—focus on product-related websites and semantic search capability.</a:t>
            </a:r>
          </a:p>
          <a:p>
            <a:pPr>
              <a:lnSpc>
                <a:spcPct val="150000"/>
              </a:lnSpc>
            </a:pPr>
            <a:endParaRPr lang="en-US" sz="1200" dirty="0"/>
          </a:p>
          <a:p>
            <a:pPr>
              <a:lnSpc>
                <a:spcPct val="150000"/>
              </a:lnSpc>
            </a:pPr>
            <a:r>
              <a:rPr lang="en-IN" sz="1200" b="1" dirty="0"/>
              <a:t>Literature / Journals Studied</a:t>
            </a:r>
          </a:p>
          <a:p>
            <a:pPr>
              <a:lnSpc>
                <a:spcPct val="150000"/>
              </a:lnSpc>
            </a:pPr>
            <a:r>
              <a:rPr lang="en-IN" sz="1200" dirty="0"/>
              <a:t>1)Web Data Extraction, Applications and Techniques: A Survey</a:t>
            </a:r>
            <a:endParaRPr lang="en-IN" sz="1200" b="1" dirty="0"/>
          </a:p>
          <a:p>
            <a:pPr>
              <a:lnSpc>
                <a:spcPct val="150000"/>
              </a:lnSpc>
            </a:pPr>
            <a:r>
              <a:rPr lang="en-US" sz="1200" dirty="0"/>
              <a:t>      </a:t>
            </a:r>
            <a:r>
              <a:rPr lang="en-US" sz="1200" dirty="0">
                <a:hlinkClick r:id="rId2"/>
              </a:rPr>
              <a:t>https://www.researchgate.net/publication/228095933_Web_Data_Extraction_Applications_and_Techniques_A_Survey</a:t>
            </a:r>
            <a:r>
              <a:rPr lang="en-US" sz="1200" dirty="0"/>
              <a:t> </a:t>
            </a:r>
          </a:p>
          <a:p>
            <a:pPr>
              <a:lnSpc>
                <a:spcPct val="150000"/>
              </a:lnSpc>
            </a:pPr>
            <a:r>
              <a:rPr lang="en-US" sz="1200" dirty="0"/>
              <a:t>2) Fields of Gold: Scraping Web Data for Marketing Insights</a:t>
            </a:r>
          </a:p>
          <a:p>
            <a:pPr>
              <a:lnSpc>
                <a:spcPct val="150000"/>
              </a:lnSpc>
            </a:pPr>
            <a:r>
              <a:rPr lang="en-US" sz="1200" dirty="0"/>
              <a:t>     </a:t>
            </a:r>
            <a:r>
              <a:rPr lang="en-US" sz="1200" dirty="0">
                <a:hlinkClick r:id="rId3"/>
              </a:rPr>
              <a:t>https://journals.sagepub.com/doi/10.1177/00222429221100750</a:t>
            </a:r>
            <a:r>
              <a:rPr lang="en-US" sz="1200" dirty="0"/>
              <a:t>  </a:t>
            </a:r>
          </a:p>
          <a:p>
            <a:pPr>
              <a:lnSpc>
                <a:spcPct val="150000"/>
              </a:lnSpc>
            </a:pPr>
            <a:r>
              <a:rPr lang="en-US" sz="1200" dirty="0"/>
              <a:t>3) </a:t>
            </a:r>
            <a:r>
              <a:rPr lang="en-US" dirty="0"/>
              <a:t>Intelligent Semantic Search for Academic Journals Using AI and NLP Techniques</a:t>
            </a:r>
          </a:p>
          <a:p>
            <a:pPr>
              <a:lnSpc>
                <a:spcPct val="150000"/>
              </a:lnSpc>
            </a:pPr>
            <a:r>
              <a:rPr lang="en-US" sz="1200" dirty="0">
                <a:hlinkClick r:id="rId4"/>
              </a:rPr>
              <a:t>https://www.researchgate.net/publication/391435093_Intelligent_Semantic_Search_for_Academic_Journals_Using_AI_and_NLP_Techniques</a:t>
            </a:r>
            <a:r>
              <a:rPr lang="en-US" sz="1200" dirty="0"/>
              <a:t>  </a:t>
            </a:r>
            <a:endParaRPr lang="en-US" sz="1000" dirty="0"/>
          </a:p>
        </p:txBody>
      </p:sp>
    </p:spTree>
    <p:extLst>
      <p:ext uri="{BB962C8B-B14F-4D97-AF65-F5344CB8AC3E}">
        <p14:creationId xmlns:p14="http://schemas.microsoft.com/office/powerpoint/2010/main" val="1353315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D12416D-2BAD-558A-C76C-C47972F59270}"/>
              </a:ext>
            </a:extLst>
          </p:cNvPr>
          <p:cNvSpPr txBox="1"/>
          <p:nvPr/>
        </p:nvSpPr>
        <p:spPr>
          <a:xfrm>
            <a:off x="532850" y="450308"/>
            <a:ext cx="5937022" cy="369332"/>
          </a:xfrm>
          <a:prstGeom prst="rect">
            <a:avLst/>
          </a:prstGeom>
          <a:noFill/>
        </p:spPr>
        <p:txBody>
          <a:bodyPr wrap="square">
            <a:spAutoFit/>
          </a:bodyPr>
          <a:lstStyle/>
          <a:p>
            <a:r>
              <a:rPr lang="en-US" sz="1800" b="1" dirty="0"/>
              <a:t>Development Environment Setup</a:t>
            </a:r>
            <a:endParaRPr lang="en-IN" sz="1800" b="1" dirty="0"/>
          </a:p>
        </p:txBody>
      </p:sp>
      <p:sp>
        <p:nvSpPr>
          <p:cNvPr id="3" name="Rectangle 2">
            <a:extLst>
              <a:ext uri="{FF2B5EF4-FFF2-40B4-BE49-F238E27FC236}">
                <a16:creationId xmlns:a16="http://schemas.microsoft.com/office/drawing/2014/main" id="{FFC73CCF-F723-D3BA-79EE-E630819DD4E5}"/>
              </a:ext>
            </a:extLst>
          </p:cNvPr>
          <p:cNvSpPr>
            <a:spLocks noChangeArrowheads="1"/>
          </p:cNvSpPr>
          <p:nvPr/>
        </p:nvSpPr>
        <p:spPr bwMode="auto">
          <a:xfrm>
            <a:off x="463255" y="926671"/>
            <a:ext cx="4996881" cy="2643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  Installed Python 3.x and required packages:</a:t>
            </a:r>
          </a:p>
          <a:p>
            <a:pPr lvl="4" algn="just" eaLnBrk="0" fontAlgn="base" hangingPunct="0">
              <a:lnSpc>
                <a:spcPct val="150000"/>
              </a:lnSpc>
              <a:spcBef>
                <a:spcPct val="0"/>
              </a:spcBef>
              <a:spcAft>
                <a:spcPct val="0"/>
              </a:spcAft>
              <a:buClrTx/>
            </a:pPr>
            <a:r>
              <a:rPr kumimoji="0" lang="en-US" altLang="en-US" sz="1200" i="0" u="none" strike="noStrike" cap="none" normalizeH="0" baseline="0" dirty="0">
                <a:ln>
                  <a:noFill/>
                </a:ln>
                <a:solidFill>
                  <a:schemeClr val="tx1"/>
                </a:solidFill>
                <a:effectLst/>
                <a:latin typeface="Arial Unicode MS"/>
              </a:rPr>
              <a:t>           beautifulsoup4</a:t>
            </a:r>
            <a:r>
              <a:rPr kumimoji="0" lang="en-US" altLang="en-US" sz="1200" i="0" u="none" strike="noStrike" cap="none" normalizeH="0" baseline="0" dirty="0">
                <a:ln>
                  <a:noFill/>
                </a:ln>
                <a:solidFill>
                  <a:schemeClr val="tx1"/>
                </a:solidFill>
                <a:effectLst/>
              </a:rPr>
              <a:t>, </a:t>
            </a:r>
            <a:r>
              <a:rPr kumimoji="0" lang="en-US" altLang="en-US" sz="1200" i="0" u="none" strike="noStrike" cap="none" normalizeH="0" baseline="0" dirty="0">
                <a:ln>
                  <a:noFill/>
                </a:ln>
                <a:solidFill>
                  <a:schemeClr val="tx1"/>
                </a:solidFill>
                <a:effectLst/>
                <a:latin typeface="Arial Unicode MS"/>
              </a:rPr>
              <a:t>requests</a:t>
            </a:r>
            <a:r>
              <a:rPr kumimoji="0" lang="en-US" altLang="en-US" sz="1200" i="0" u="none" strike="noStrike" cap="none" normalizeH="0" baseline="0" dirty="0">
                <a:ln>
                  <a:noFill/>
                </a:ln>
                <a:solidFill>
                  <a:schemeClr val="tx1"/>
                </a:solidFill>
                <a:effectLst/>
              </a:rPr>
              <a:t>, </a:t>
            </a:r>
            <a:r>
              <a:rPr kumimoji="0" lang="en-US" altLang="en-US" sz="1200" i="0" u="none" strike="noStrike" cap="none" normalizeH="0" baseline="0" dirty="0" err="1">
                <a:ln>
                  <a:noFill/>
                </a:ln>
                <a:solidFill>
                  <a:schemeClr val="tx1"/>
                </a:solidFill>
                <a:effectLst/>
                <a:latin typeface="Arial Unicode MS"/>
              </a:rPr>
              <a:t>streamlit</a:t>
            </a:r>
            <a:r>
              <a:rPr kumimoji="0" lang="en-US" altLang="en-US" sz="1200" i="0" u="none" strike="noStrike" cap="none" normalizeH="0" baseline="0" dirty="0">
                <a:ln>
                  <a:noFill/>
                </a:ln>
                <a:solidFill>
                  <a:schemeClr val="tx1"/>
                </a:solidFill>
                <a:effectLst/>
              </a:rPr>
              <a:t>, </a:t>
            </a:r>
            <a:r>
              <a:rPr kumimoji="0" lang="en-US" altLang="en-US" sz="1200" i="0" u="none" strike="noStrike" cap="none" normalizeH="0" baseline="0" dirty="0" err="1">
                <a:ln>
                  <a:noFill/>
                </a:ln>
                <a:solidFill>
                  <a:schemeClr val="tx1"/>
                </a:solidFill>
                <a:effectLst/>
                <a:latin typeface="Arial Unicode MS"/>
              </a:rPr>
              <a:t>openai</a:t>
            </a:r>
            <a:r>
              <a:rPr kumimoji="0" lang="en-US" altLang="en-US" sz="1200" i="0" u="none" strike="noStrike" cap="none" normalizeH="0" baseline="0" dirty="0">
                <a:ln>
                  <a:noFill/>
                </a:ln>
                <a:solidFill>
                  <a:schemeClr val="tx1"/>
                </a:solidFill>
                <a:effectLst/>
              </a:rPr>
              <a:t>, </a:t>
            </a:r>
            <a:r>
              <a:rPr kumimoji="0" lang="en-US" altLang="en-US" sz="1200" i="0" u="none" strike="noStrike" cap="none" normalizeH="0" baseline="0" dirty="0">
                <a:ln>
                  <a:noFill/>
                </a:ln>
                <a:solidFill>
                  <a:schemeClr val="tx1"/>
                </a:solidFill>
                <a:effectLst/>
                <a:latin typeface="Arial Unicode MS"/>
              </a:rPr>
              <a:t>pandas</a:t>
            </a:r>
            <a:r>
              <a:rPr kumimoji="0" lang="en-US" altLang="en-US" sz="1200" i="0" u="none" strike="noStrike" cap="none" normalizeH="0" baseline="0" dirty="0">
                <a:ln>
                  <a:noFill/>
                </a:ln>
                <a:solidFill>
                  <a:schemeClr val="tx1"/>
                </a:solidFill>
                <a:effectLst/>
              </a:rPr>
              <a:t>, </a:t>
            </a:r>
            <a:r>
              <a:rPr kumimoji="0" lang="en-US" altLang="en-US" sz="1200" i="0" u="none" strike="noStrike" cap="none" normalizeH="0" baseline="0" dirty="0" err="1">
                <a:ln>
                  <a:noFill/>
                </a:ln>
                <a:solidFill>
                  <a:schemeClr val="tx1"/>
                </a:solidFill>
                <a:effectLst/>
                <a:latin typeface="Arial Unicode MS"/>
              </a:rPr>
              <a:t>numpy</a:t>
            </a:r>
            <a:r>
              <a:rPr kumimoji="0" lang="en-US" altLang="en-US" sz="1200" i="0" u="none" strike="noStrike" cap="none" normalizeH="0" baseline="0" dirty="0">
                <a:ln>
                  <a:noFill/>
                </a:ln>
                <a:solidFill>
                  <a:schemeClr val="tx1"/>
                </a:solidFill>
                <a:effectLst/>
              </a:rPr>
              <a:t>.</a:t>
            </a:r>
            <a:endParaRPr kumimoji="0" lang="en-US" altLang="en-US" sz="120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  Created a virtual environment to keep project dependencies isolated.</a:t>
            </a:r>
          </a:p>
          <a:p>
            <a:pPr lvl="1" algn="just" eaLnBrk="0" fontAlgn="base" hangingPunct="0">
              <a:lnSpc>
                <a:spcPct val="150000"/>
              </a:lnSpc>
              <a:spcBef>
                <a:spcPct val="0"/>
              </a:spcBef>
              <a:spcAft>
                <a:spcPct val="0"/>
              </a:spcAft>
              <a:buClrTx/>
            </a:pPr>
            <a:r>
              <a:rPr lang="en-US" altLang="en-US" sz="1200" dirty="0">
                <a:solidFill>
                  <a:schemeClr val="tx1"/>
                </a:solidFill>
                <a:latin typeface="Arial" panose="020B0604020202020204" pitchFamily="34" charset="0"/>
              </a:rPr>
              <a:t>              python -m </a:t>
            </a:r>
            <a:r>
              <a:rPr lang="en-US" altLang="en-US" sz="1200" dirty="0" err="1">
                <a:solidFill>
                  <a:schemeClr val="tx1"/>
                </a:solidFill>
                <a:latin typeface="Arial" panose="020B0604020202020204" pitchFamily="34" charset="0"/>
              </a:rPr>
              <a:t>venv</a:t>
            </a:r>
            <a:r>
              <a:rPr lang="en-US" altLang="en-US" sz="1200" dirty="0">
                <a:solidFill>
                  <a:schemeClr val="tx1"/>
                </a:solidFill>
                <a:latin typeface="Arial" panose="020B0604020202020204" pitchFamily="34" charset="0"/>
              </a:rPr>
              <a:t> </a:t>
            </a:r>
            <a:r>
              <a:rPr lang="en-US" altLang="en-US" sz="1200" dirty="0" err="1">
                <a:solidFill>
                  <a:schemeClr val="tx1"/>
                </a:solidFill>
                <a:latin typeface="Arial" panose="020B0604020202020204" pitchFamily="34" charset="0"/>
              </a:rPr>
              <a:t>venv</a:t>
            </a:r>
            <a:endParaRPr lang="en-US" altLang="en-US" sz="1200" dirty="0">
              <a:solidFill>
                <a:schemeClr val="tx1"/>
              </a:solidFill>
              <a:latin typeface="Arial" panose="020B0604020202020204" pitchFamily="34" charset="0"/>
            </a:endParaRPr>
          </a:p>
          <a:p>
            <a:pPr marL="171450" lvl="1" indent="-171450" algn="just" eaLnBrk="0" fontAlgn="base" hangingPunct="0">
              <a:lnSpc>
                <a:spcPct val="150000"/>
              </a:lnSpc>
              <a:spcBef>
                <a:spcPct val="0"/>
              </a:spcBef>
              <a:spcAft>
                <a:spcPct val="0"/>
              </a:spcAft>
              <a:buClrTx/>
              <a:buFont typeface="Arial" panose="020B0604020202020204" pitchFamily="34" charset="0"/>
              <a:buChar char="•"/>
            </a:pPr>
            <a:r>
              <a:rPr kumimoji="0" lang="en-US" altLang="en-US" sz="1200" i="0" u="none" strike="noStrike" cap="none" normalizeH="0" baseline="0" dirty="0">
                <a:ln>
                  <a:noFill/>
                </a:ln>
                <a:solidFill>
                  <a:schemeClr val="tx1"/>
                </a:solidFill>
                <a:effectLst/>
                <a:latin typeface="Arial" panose="020B0604020202020204" pitchFamily="34" charset="0"/>
              </a:rPr>
              <a:t> </a:t>
            </a:r>
            <a:r>
              <a:rPr lang="en-IN" sz="1200" dirty="0"/>
              <a:t>Activated the virtual environment</a:t>
            </a:r>
          </a:p>
          <a:p>
            <a:pPr lvl="1" algn="just" eaLnBrk="0" fontAlgn="base" hangingPunct="0">
              <a:lnSpc>
                <a:spcPct val="150000"/>
              </a:lnSpc>
              <a:spcBef>
                <a:spcPct val="0"/>
              </a:spcBef>
              <a:spcAft>
                <a:spcPct val="0"/>
              </a:spcAft>
              <a:buClrTx/>
            </a:pPr>
            <a:r>
              <a:rPr lang="en-IN" altLang="en-US" sz="1200" dirty="0">
                <a:solidFill>
                  <a:schemeClr val="tx1"/>
                </a:solidFill>
                <a:latin typeface="Arial" panose="020B0604020202020204" pitchFamily="34" charset="0"/>
              </a:rPr>
              <a:t>              .\</a:t>
            </a:r>
            <a:r>
              <a:rPr lang="en-IN" altLang="en-US" sz="1200" dirty="0" err="1">
                <a:solidFill>
                  <a:schemeClr val="tx1"/>
                </a:solidFill>
                <a:latin typeface="Arial" panose="020B0604020202020204" pitchFamily="34" charset="0"/>
              </a:rPr>
              <a:t>venv</a:t>
            </a:r>
            <a:r>
              <a:rPr lang="en-IN" altLang="en-US" sz="1200" dirty="0">
                <a:solidFill>
                  <a:schemeClr val="tx1"/>
                </a:solidFill>
                <a:latin typeface="Arial" panose="020B0604020202020204" pitchFamily="34" charset="0"/>
              </a:rPr>
              <a:t>\Scripts\activate</a:t>
            </a:r>
          </a:p>
          <a:p>
            <a:pPr lvl="1" algn="just" eaLnBrk="0" fontAlgn="base" hangingPunct="0">
              <a:lnSpc>
                <a:spcPct val="150000"/>
              </a:lnSpc>
              <a:spcBef>
                <a:spcPct val="0"/>
              </a:spcBef>
              <a:spcAft>
                <a:spcPct val="0"/>
              </a:spcAft>
              <a:buClrTx/>
            </a:pPr>
            <a:endParaRPr lang="en-IN" altLang="en-US" sz="1200" dirty="0">
              <a:solidFill>
                <a:schemeClr val="tx1"/>
              </a:solidFill>
              <a:latin typeface="Arial" panose="020B0604020202020204" pitchFamily="34" charset="0"/>
            </a:endParaRPr>
          </a:p>
          <a:p>
            <a:r>
              <a:rPr lang="en-IN" sz="1200" dirty="0"/>
              <a:t>Configured </a:t>
            </a:r>
            <a:r>
              <a:rPr lang="en-IN" sz="1200" b="1" dirty="0"/>
              <a:t>VS Code</a:t>
            </a:r>
            <a:r>
              <a:rPr lang="en-IN" sz="1200" dirty="0"/>
              <a:t>:</a:t>
            </a:r>
          </a:p>
          <a:p>
            <a:r>
              <a:rPr lang="en-IN" sz="1200" dirty="0"/>
              <a:t>	Installed Python extension.</a:t>
            </a:r>
          </a:p>
          <a:p>
            <a:pPr lvl="1" algn="just" eaLnBrk="0" fontAlgn="base" hangingPunct="0">
              <a:lnSpc>
                <a:spcPct val="150000"/>
              </a:lnSpc>
              <a:spcBef>
                <a:spcPct val="0"/>
              </a:spcBef>
              <a:spcAft>
                <a:spcPct val="0"/>
              </a:spcAft>
              <a:buClrTx/>
            </a:pPr>
            <a:endParaRPr kumimoji="0" lang="en-US" altLang="en-US" sz="120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05BB96C7-CB2C-400C-122F-5B6828109876}"/>
              </a:ext>
            </a:extLst>
          </p:cNvPr>
          <p:cNvPicPr>
            <a:picLocks noChangeAspect="1"/>
          </p:cNvPicPr>
          <p:nvPr/>
        </p:nvPicPr>
        <p:blipFill>
          <a:blip r:embed="rId2"/>
          <a:stretch>
            <a:fillRect/>
          </a:stretch>
        </p:blipFill>
        <p:spPr>
          <a:xfrm>
            <a:off x="3305774" y="1966947"/>
            <a:ext cx="5838225" cy="2788583"/>
          </a:xfrm>
          <a:prstGeom prst="rect">
            <a:avLst/>
          </a:prstGeom>
        </p:spPr>
      </p:pic>
    </p:spTree>
    <p:extLst>
      <p:ext uri="{BB962C8B-B14F-4D97-AF65-F5344CB8AC3E}">
        <p14:creationId xmlns:p14="http://schemas.microsoft.com/office/powerpoint/2010/main" val="2115977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520AA22-9928-6E04-E4CE-02C5C04F5B60}"/>
              </a:ext>
            </a:extLst>
          </p:cNvPr>
          <p:cNvPicPr>
            <a:picLocks noChangeAspect="1"/>
          </p:cNvPicPr>
          <p:nvPr/>
        </p:nvPicPr>
        <p:blipFill>
          <a:blip r:embed="rId2"/>
          <a:stretch>
            <a:fillRect/>
          </a:stretch>
        </p:blipFill>
        <p:spPr>
          <a:xfrm>
            <a:off x="4695580" y="2111670"/>
            <a:ext cx="4302838" cy="2637123"/>
          </a:xfrm>
          <a:prstGeom prst="rect">
            <a:avLst/>
          </a:prstGeom>
        </p:spPr>
      </p:pic>
      <p:sp>
        <p:nvSpPr>
          <p:cNvPr id="6" name="Rectangle 1">
            <a:extLst>
              <a:ext uri="{FF2B5EF4-FFF2-40B4-BE49-F238E27FC236}">
                <a16:creationId xmlns:a16="http://schemas.microsoft.com/office/drawing/2014/main" id="{4DCB380D-F3A9-9847-A53B-066D0D2D3546}"/>
              </a:ext>
            </a:extLst>
          </p:cNvPr>
          <p:cNvSpPr>
            <a:spLocks noChangeArrowheads="1"/>
          </p:cNvSpPr>
          <p:nvPr/>
        </p:nvSpPr>
        <p:spPr bwMode="auto">
          <a:xfrm>
            <a:off x="52627" y="1508327"/>
            <a:ext cx="4642953" cy="2274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Built a basic HTML crawler using Python.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Imported </a:t>
            </a:r>
            <a:r>
              <a:rPr kumimoji="0" lang="en-US" altLang="en-US" sz="1200" i="0" u="none" strike="noStrike" cap="none" normalizeH="0" baseline="0" dirty="0">
                <a:ln>
                  <a:noFill/>
                </a:ln>
                <a:solidFill>
                  <a:schemeClr val="tx1"/>
                </a:solidFill>
                <a:effectLst/>
                <a:latin typeface="Arial Unicode MS"/>
              </a:rPr>
              <a:t>requests</a:t>
            </a:r>
            <a:r>
              <a:rPr kumimoji="0" lang="en-US" altLang="en-US" sz="1200" i="0" u="none" strike="noStrike" cap="none" normalizeH="0" baseline="0" dirty="0">
                <a:ln>
                  <a:noFill/>
                </a:ln>
                <a:solidFill>
                  <a:schemeClr val="tx1"/>
                </a:solidFill>
                <a:effectLst/>
              </a:rPr>
              <a:t> and </a:t>
            </a:r>
            <a:r>
              <a:rPr kumimoji="0" lang="en-US" altLang="en-US" sz="1200" i="0" u="none" strike="noStrike" cap="none" normalizeH="0" baseline="0" dirty="0" err="1">
                <a:ln>
                  <a:noFill/>
                </a:ln>
                <a:solidFill>
                  <a:schemeClr val="tx1"/>
                </a:solidFill>
                <a:effectLst/>
                <a:latin typeface="Arial Unicode MS"/>
              </a:rPr>
              <a:t>BeautifulSoup</a:t>
            </a:r>
            <a:r>
              <a:rPr kumimoji="0" lang="en-US" altLang="en-US" sz="1200" i="0" u="none" strike="noStrike" cap="none" normalizeH="0" baseline="0" dirty="0">
                <a:ln>
                  <a:noFill/>
                </a:ln>
                <a:solidFill>
                  <a:schemeClr val="tx1"/>
                </a:solidFill>
                <a:effectLst/>
              </a:rPr>
              <a:t> to fetch and parse web pages.</a:t>
            </a:r>
            <a:endParaRPr kumimoji="0" lang="en-US" altLang="en-US" sz="12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Wrote a function to send HTTP GET requests to target URLs.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Parsed HTML responses to extract </a:t>
            </a:r>
            <a:r>
              <a:rPr kumimoji="0" lang="en-US" altLang="en-US" sz="1200" i="0" u="none" strike="noStrike" cap="none" normalizeH="0" baseline="0" dirty="0">
                <a:ln>
                  <a:noFill/>
                </a:ln>
                <a:solidFill>
                  <a:schemeClr val="tx1"/>
                </a:solidFill>
                <a:effectLst/>
                <a:latin typeface="Arial Unicode MS"/>
              </a:rPr>
              <a:t>&lt;title&gt;</a:t>
            </a:r>
            <a:r>
              <a:rPr kumimoji="0" lang="en-US" altLang="en-US" sz="1200" i="0" u="none" strike="noStrike" cap="none" normalizeH="0" baseline="0" dirty="0">
                <a:ln>
                  <a:noFill/>
                </a:ln>
                <a:solidFill>
                  <a:schemeClr val="tx1"/>
                </a:solidFill>
                <a:effectLst/>
              </a:rPr>
              <a:t> and </a:t>
            </a:r>
            <a:r>
              <a:rPr kumimoji="0" lang="en-US" altLang="en-US" sz="1200" i="0" u="none" strike="noStrike" cap="none" normalizeH="0" baseline="0" dirty="0">
                <a:ln>
                  <a:noFill/>
                </a:ln>
                <a:solidFill>
                  <a:schemeClr val="tx1"/>
                </a:solidFill>
                <a:effectLst/>
                <a:latin typeface="Arial Unicode MS"/>
              </a:rPr>
              <a:t>&lt;a&gt;</a:t>
            </a:r>
            <a:r>
              <a:rPr kumimoji="0" lang="en-US" altLang="en-US" sz="1200" i="0" u="none" strike="noStrike" cap="none" normalizeH="0" baseline="0" dirty="0">
                <a:ln>
                  <a:noFill/>
                </a:ln>
                <a:solidFill>
                  <a:schemeClr val="tx1"/>
                </a:solidFill>
                <a:effectLst/>
              </a:rPr>
              <a:t> link elements.</a:t>
            </a:r>
            <a:endParaRPr kumimoji="0" lang="en-US" altLang="en-US" sz="12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Stored extracted links in a list for later use.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Tested the crawler on </a:t>
            </a:r>
            <a:r>
              <a:rPr kumimoji="0" lang="en-US" altLang="en-US" sz="1200" i="0" u="none" strike="noStrike" cap="none" normalizeH="0" baseline="0" dirty="0">
                <a:ln>
                  <a:noFill/>
                </a:ln>
                <a:solidFill>
                  <a:schemeClr val="tx1"/>
                </a:solidFill>
                <a:effectLst/>
                <a:latin typeface="Arial Unicode MS"/>
              </a:rPr>
              <a:t>https://example.com</a:t>
            </a:r>
            <a:r>
              <a:rPr kumimoji="0" lang="en-US" altLang="en-US" sz="1200" i="0" u="none" strike="noStrike" cap="none" normalizeH="0" baseline="0" dirty="0">
                <a:ln>
                  <a:noFill/>
                </a:ln>
                <a:solidFill>
                  <a:schemeClr val="tx1"/>
                </a:solidFill>
                <a:effectLst/>
              </a:rPr>
              <a:t> and successfully printed the page title and links.</a:t>
            </a:r>
            <a:endParaRPr kumimoji="0" lang="en-US" altLang="en-US" sz="120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87DD706F-9472-CFBA-65F2-082871E63BD0}"/>
              </a:ext>
            </a:extLst>
          </p:cNvPr>
          <p:cNvSpPr txBox="1"/>
          <p:nvPr/>
        </p:nvSpPr>
        <p:spPr>
          <a:xfrm>
            <a:off x="365103" y="744990"/>
            <a:ext cx="6213314" cy="369332"/>
          </a:xfrm>
          <a:prstGeom prst="rect">
            <a:avLst/>
          </a:prstGeom>
          <a:noFill/>
        </p:spPr>
        <p:txBody>
          <a:bodyPr wrap="square">
            <a:spAutoFit/>
          </a:bodyPr>
          <a:lstStyle/>
          <a:p>
            <a:r>
              <a:rPr lang="en-US" sz="1800" b="1" dirty="0"/>
              <a:t>Implement HTML Crawler with </a:t>
            </a:r>
            <a:r>
              <a:rPr lang="en-US" sz="1800" b="1" dirty="0" err="1"/>
              <a:t>BeautifulSoup</a:t>
            </a:r>
            <a:endParaRPr lang="en-IN" sz="1800" b="1" dirty="0"/>
          </a:p>
        </p:txBody>
      </p:sp>
    </p:spTree>
    <p:extLst>
      <p:ext uri="{BB962C8B-B14F-4D97-AF65-F5344CB8AC3E}">
        <p14:creationId xmlns:p14="http://schemas.microsoft.com/office/powerpoint/2010/main" val="3086101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1ECC5CD-8B05-4893-0F1A-BA67E9D21FC1}"/>
              </a:ext>
            </a:extLst>
          </p:cNvPr>
          <p:cNvSpPr txBox="1"/>
          <p:nvPr/>
        </p:nvSpPr>
        <p:spPr>
          <a:xfrm>
            <a:off x="411150" y="655257"/>
            <a:ext cx="7351381" cy="369332"/>
          </a:xfrm>
          <a:prstGeom prst="rect">
            <a:avLst/>
          </a:prstGeom>
          <a:noFill/>
        </p:spPr>
        <p:txBody>
          <a:bodyPr wrap="square">
            <a:spAutoFit/>
          </a:bodyPr>
          <a:lstStyle/>
          <a:p>
            <a:r>
              <a:rPr lang="en-US" sz="1800" b="1" dirty="0"/>
              <a:t>Enable recursive crawling and page navigation.</a:t>
            </a:r>
            <a:endParaRPr lang="en-IN" sz="1800" b="1" dirty="0"/>
          </a:p>
        </p:txBody>
      </p:sp>
      <p:pic>
        <p:nvPicPr>
          <p:cNvPr id="8" name="Picture 7">
            <a:extLst>
              <a:ext uri="{FF2B5EF4-FFF2-40B4-BE49-F238E27FC236}">
                <a16:creationId xmlns:a16="http://schemas.microsoft.com/office/drawing/2014/main" id="{064EF6C6-7D1C-CAAC-37AC-1E25017BF1C1}"/>
              </a:ext>
            </a:extLst>
          </p:cNvPr>
          <p:cNvPicPr>
            <a:picLocks noChangeAspect="1"/>
          </p:cNvPicPr>
          <p:nvPr/>
        </p:nvPicPr>
        <p:blipFill>
          <a:blip r:embed="rId2"/>
          <a:stretch>
            <a:fillRect/>
          </a:stretch>
        </p:blipFill>
        <p:spPr>
          <a:xfrm>
            <a:off x="411150" y="2637348"/>
            <a:ext cx="3371440" cy="2215759"/>
          </a:xfrm>
          <a:prstGeom prst="rect">
            <a:avLst/>
          </a:prstGeom>
        </p:spPr>
      </p:pic>
      <p:pic>
        <p:nvPicPr>
          <p:cNvPr id="10" name="Picture 9">
            <a:extLst>
              <a:ext uri="{FF2B5EF4-FFF2-40B4-BE49-F238E27FC236}">
                <a16:creationId xmlns:a16="http://schemas.microsoft.com/office/drawing/2014/main" id="{8A1D2190-83FF-46B9-5587-095394486AB6}"/>
              </a:ext>
            </a:extLst>
          </p:cNvPr>
          <p:cNvPicPr>
            <a:picLocks noChangeAspect="1"/>
          </p:cNvPicPr>
          <p:nvPr/>
        </p:nvPicPr>
        <p:blipFill>
          <a:blip r:embed="rId3"/>
          <a:stretch>
            <a:fillRect/>
          </a:stretch>
        </p:blipFill>
        <p:spPr>
          <a:xfrm>
            <a:off x="4644362" y="3124203"/>
            <a:ext cx="4157560" cy="1120532"/>
          </a:xfrm>
          <a:prstGeom prst="rect">
            <a:avLst/>
          </a:prstGeom>
        </p:spPr>
      </p:pic>
      <p:sp>
        <p:nvSpPr>
          <p:cNvPr id="12" name="TextBox 11">
            <a:extLst>
              <a:ext uri="{FF2B5EF4-FFF2-40B4-BE49-F238E27FC236}">
                <a16:creationId xmlns:a16="http://schemas.microsoft.com/office/drawing/2014/main" id="{955F3A27-6B91-FB89-5884-FAAABDAB3F52}"/>
              </a:ext>
            </a:extLst>
          </p:cNvPr>
          <p:cNvSpPr txBox="1"/>
          <p:nvPr/>
        </p:nvSpPr>
        <p:spPr>
          <a:xfrm>
            <a:off x="411150" y="1260576"/>
            <a:ext cx="7769109" cy="1171731"/>
          </a:xfrm>
          <a:prstGeom prst="rect">
            <a:avLst/>
          </a:prstGeom>
          <a:noFill/>
        </p:spPr>
        <p:txBody>
          <a:bodyPr wrap="square">
            <a:spAutoFit/>
          </a:bodyPr>
          <a:lstStyle/>
          <a:p>
            <a:pPr>
              <a:lnSpc>
                <a:spcPct val="150000"/>
              </a:lnSpc>
            </a:pPr>
            <a:r>
              <a:rPr lang="en-US" sz="1200" dirty="0">
                <a:latin typeface="Calibri" panose="020F0502020204030204" pitchFamily="34" charset="0"/>
                <a:ea typeface="Calibri" panose="020F0502020204030204" pitchFamily="34" charset="0"/>
                <a:cs typeface="Calibri" panose="020F0502020204030204" pitchFamily="34" charset="0"/>
              </a:rPr>
              <a:t>the HTML crawler was enhanced to support </a:t>
            </a:r>
            <a:r>
              <a:rPr lang="en-US" sz="1200" b="1" dirty="0">
                <a:latin typeface="Calibri" panose="020F0502020204030204" pitchFamily="34" charset="0"/>
                <a:ea typeface="Calibri" panose="020F0502020204030204" pitchFamily="34" charset="0"/>
                <a:cs typeface="Calibri" panose="020F0502020204030204" pitchFamily="34" charset="0"/>
              </a:rPr>
              <a:t>recursive crawling</a:t>
            </a:r>
            <a:r>
              <a:rPr lang="en-US" sz="1200" dirty="0">
                <a:latin typeface="Calibri" panose="020F0502020204030204" pitchFamily="34" charset="0"/>
                <a:ea typeface="Calibri" panose="020F0502020204030204" pitchFamily="34" charset="0"/>
                <a:cs typeface="Calibri" panose="020F0502020204030204" pitchFamily="34" charset="0"/>
              </a:rPr>
              <a:t>, allowing it to follow links found on a page to gather more data automatically. Logic for </a:t>
            </a:r>
            <a:r>
              <a:rPr lang="en-US" sz="1200" b="1" dirty="0">
                <a:latin typeface="Calibri" panose="020F0502020204030204" pitchFamily="34" charset="0"/>
                <a:ea typeface="Calibri" panose="020F0502020204030204" pitchFamily="34" charset="0"/>
                <a:cs typeface="Calibri" panose="020F0502020204030204" pitchFamily="34" charset="0"/>
              </a:rPr>
              <a:t>page navigation</a:t>
            </a:r>
            <a:r>
              <a:rPr lang="en-US" sz="1200" dirty="0">
                <a:latin typeface="Calibri" panose="020F0502020204030204" pitchFamily="34" charset="0"/>
                <a:ea typeface="Calibri" panose="020F0502020204030204" pitchFamily="34" charset="0"/>
                <a:cs typeface="Calibri" panose="020F0502020204030204" pitchFamily="34" charset="0"/>
              </a:rPr>
              <a:t> was implemented to handle multiple pages of a website, ensuring comprehensive data collection. The crawler was tested on sample sites to verify that it could extract links and traverse pages correctly.</a:t>
            </a:r>
            <a:endParaRPr lang="en-IN" sz="1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46823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5AF5852-E914-77C0-FB0B-23C15100342F}"/>
              </a:ext>
            </a:extLst>
          </p:cNvPr>
          <p:cNvSpPr txBox="1"/>
          <p:nvPr/>
        </p:nvSpPr>
        <p:spPr>
          <a:xfrm>
            <a:off x="490092" y="602630"/>
            <a:ext cx="4650940" cy="369332"/>
          </a:xfrm>
          <a:prstGeom prst="rect">
            <a:avLst/>
          </a:prstGeom>
          <a:noFill/>
        </p:spPr>
        <p:txBody>
          <a:bodyPr wrap="square">
            <a:spAutoFit/>
          </a:bodyPr>
          <a:lstStyle/>
          <a:p>
            <a:r>
              <a:rPr lang="en-US" sz="1800" b="1" dirty="0"/>
              <a:t>Gemini API Key Generation</a:t>
            </a:r>
            <a:endParaRPr lang="en-IN" sz="1800" b="1" dirty="0"/>
          </a:p>
        </p:txBody>
      </p:sp>
      <p:sp>
        <p:nvSpPr>
          <p:cNvPr id="7" name="TextBox 6">
            <a:extLst>
              <a:ext uri="{FF2B5EF4-FFF2-40B4-BE49-F238E27FC236}">
                <a16:creationId xmlns:a16="http://schemas.microsoft.com/office/drawing/2014/main" id="{12A248C3-066B-097A-14F1-EEB99AA6672C}"/>
              </a:ext>
            </a:extLst>
          </p:cNvPr>
          <p:cNvSpPr txBox="1"/>
          <p:nvPr/>
        </p:nvSpPr>
        <p:spPr>
          <a:xfrm>
            <a:off x="437464" y="1186755"/>
            <a:ext cx="8522339" cy="889154"/>
          </a:xfrm>
          <a:prstGeom prst="rect">
            <a:avLst/>
          </a:prstGeom>
          <a:noFill/>
        </p:spPr>
        <p:txBody>
          <a:bodyPr wrap="square">
            <a:spAutoFit/>
          </a:bodyPr>
          <a:lstStyle/>
          <a:p>
            <a:pPr>
              <a:lnSpc>
                <a:spcPct val="150000"/>
              </a:lnSpc>
            </a:pPr>
            <a:r>
              <a:rPr lang="en-US" sz="1200" dirty="0"/>
              <a:t>Gemini embeddings convert text into numerical vectors that capture the semantic meaning of the content. They represent similar texts with closer vectors, allowing efficient semantic search and similarity analysis. In this project, they are used to represent scraped data for tasks like search and question-answering.</a:t>
            </a:r>
            <a:endParaRPr lang="en-IN" sz="1200" dirty="0"/>
          </a:p>
        </p:txBody>
      </p:sp>
      <p:pic>
        <p:nvPicPr>
          <p:cNvPr id="8" name="Picture 7">
            <a:extLst>
              <a:ext uri="{FF2B5EF4-FFF2-40B4-BE49-F238E27FC236}">
                <a16:creationId xmlns:a16="http://schemas.microsoft.com/office/drawing/2014/main" id="{D085C4AE-8462-F294-B6DC-10E5CF59071F}"/>
              </a:ext>
            </a:extLst>
          </p:cNvPr>
          <p:cNvPicPr>
            <a:picLocks noChangeAspect="1"/>
          </p:cNvPicPr>
          <p:nvPr/>
        </p:nvPicPr>
        <p:blipFill>
          <a:blip r:embed="rId2"/>
          <a:stretch>
            <a:fillRect/>
          </a:stretch>
        </p:blipFill>
        <p:spPr>
          <a:xfrm>
            <a:off x="3738486" y="2171757"/>
            <a:ext cx="5288827" cy="2525233"/>
          </a:xfrm>
          <a:prstGeom prst="rect">
            <a:avLst/>
          </a:prstGeom>
        </p:spPr>
      </p:pic>
      <p:sp>
        <p:nvSpPr>
          <p:cNvPr id="9" name="Rectangle 1">
            <a:extLst>
              <a:ext uri="{FF2B5EF4-FFF2-40B4-BE49-F238E27FC236}">
                <a16:creationId xmlns:a16="http://schemas.microsoft.com/office/drawing/2014/main" id="{0690BCE6-4BE6-95B9-A858-9BDC9F46A0E7}"/>
              </a:ext>
            </a:extLst>
          </p:cNvPr>
          <p:cNvSpPr>
            <a:spLocks noChangeArrowheads="1"/>
          </p:cNvSpPr>
          <p:nvPr/>
        </p:nvSpPr>
        <p:spPr bwMode="auto">
          <a:xfrm>
            <a:off x="263136" y="2290702"/>
            <a:ext cx="3387885" cy="199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Created an </a:t>
            </a:r>
            <a:r>
              <a:rPr kumimoji="0" lang="en-US" altLang="en-US" sz="1200" b="1" i="0" u="none" strike="noStrike" cap="none" normalizeH="0" baseline="0" dirty="0">
                <a:ln>
                  <a:noFill/>
                </a:ln>
                <a:solidFill>
                  <a:schemeClr val="tx1"/>
                </a:solidFill>
                <a:effectLst/>
                <a:latin typeface="Arial" panose="020B0604020202020204" pitchFamily="34" charset="0"/>
              </a:rPr>
              <a:t>API key</a:t>
            </a:r>
            <a:r>
              <a:rPr kumimoji="0" lang="en-US" altLang="en-US" sz="1200" b="0" i="0" u="none" strike="noStrike" cap="none" normalizeH="0" baseline="0" dirty="0">
                <a:ln>
                  <a:noFill/>
                </a:ln>
                <a:solidFill>
                  <a:schemeClr val="tx1"/>
                </a:solidFill>
                <a:effectLst/>
                <a:latin typeface="Arial" panose="020B0604020202020204" pitchFamily="34" charset="0"/>
              </a:rPr>
              <a:t> from the Gemini/OpenAI dashboard to access embeddings.</a:t>
            </a: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rPr>
              <a:t>Logged into OpenAI/Gemini account.</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chemeClr val="tx1"/>
                </a:solidFill>
                <a:effectLst/>
                <a:latin typeface="Arial" panose="020B0604020202020204" pitchFamily="34" charset="0"/>
              </a:rPr>
              <a:t>Navigated to </a:t>
            </a:r>
            <a:r>
              <a:rPr kumimoji="0" lang="en-US" altLang="en-US" sz="1200" b="1" i="0" u="none" strike="noStrike" cap="none" normalizeH="0" baseline="0" dirty="0">
                <a:ln>
                  <a:noFill/>
                </a:ln>
                <a:solidFill>
                  <a:schemeClr val="tx1"/>
                </a:solidFill>
                <a:effectLst/>
                <a:latin typeface="Arial" panose="020B0604020202020204" pitchFamily="34" charset="0"/>
              </a:rPr>
              <a:t>API keys</a:t>
            </a:r>
            <a:r>
              <a:rPr kumimoji="0" lang="en-US" altLang="en-US" sz="1200" b="0" i="0" u="none" strike="noStrike" cap="none" normalizeH="0" baseline="0" dirty="0">
                <a:ln>
                  <a:noFill/>
                </a:ln>
                <a:solidFill>
                  <a:schemeClr val="tx1"/>
                </a:solidFill>
                <a:effectLst/>
                <a:latin typeface="Arial" panose="020B0604020202020204" pitchFamily="34" charset="0"/>
              </a:rPr>
              <a:t> section.</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chemeClr val="tx1"/>
                </a:solidFill>
                <a:effectLst/>
                <a:latin typeface="Arial" panose="020B0604020202020204" pitchFamily="34" charset="0"/>
              </a:rPr>
              <a:t>Clicked </a:t>
            </a:r>
            <a:r>
              <a:rPr kumimoji="0" lang="en-US" altLang="en-US" sz="1200" b="1" i="0" u="none" strike="noStrike" cap="none" normalizeH="0" baseline="0" dirty="0">
                <a:ln>
                  <a:noFill/>
                </a:ln>
                <a:solidFill>
                  <a:schemeClr val="tx1"/>
                </a:solidFill>
                <a:effectLst/>
                <a:latin typeface="Arial" panose="020B0604020202020204" pitchFamily="34" charset="0"/>
              </a:rPr>
              <a:t>“Generate New Key”</a:t>
            </a:r>
            <a:r>
              <a:rPr kumimoji="0" lang="en-US" altLang="en-US" sz="1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chemeClr val="tx1"/>
                </a:solidFill>
                <a:effectLst/>
                <a:latin typeface="Arial" panose="020B0604020202020204" pitchFamily="34" charset="0"/>
              </a:rPr>
              <a:t>Copied the key securely</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77838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B475798-5244-0073-D062-345B41865084}"/>
              </a:ext>
            </a:extLst>
          </p:cNvPr>
          <p:cNvSpPr txBox="1"/>
          <p:nvPr/>
        </p:nvSpPr>
        <p:spPr>
          <a:xfrm>
            <a:off x="555875" y="652790"/>
            <a:ext cx="7811872" cy="369332"/>
          </a:xfrm>
          <a:prstGeom prst="rect">
            <a:avLst/>
          </a:prstGeom>
          <a:noFill/>
        </p:spPr>
        <p:txBody>
          <a:bodyPr wrap="square">
            <a:spAutoFit/>
          </a:bodyPr>
          <a:lstStyle/>
          <a:p>
            <a:r>
              <a:rPr lang="en-US" sz="1800" b="1" dirty="0"/>
              <a:t>Develop semantic search and question-answering module</a:t>
            </a:r>
            <a:endParaRPr lang="en-IN" sz="1800" b="1" dirty="0"/>
          </a:p>
        </p:txBody>
      </p:sp>
      <p:sp>
        <p:nvSpPr>
          <p:cNvPr id="7" name="TextBox 6">
            <a:extLst>
              <a:ext uri="{FF2B5EF4-FFF2-40B4-BE49-F238E27FC236}">
                <a16:creationId xmlns:a16="http://schemas.microsoft.com/office/drawing/2014/main" id="{A2AC3D8E-8E36-D307-E50B-E0A289C8F61A}"/>
              </a:ext>
            </a:extLst>
          </p:cNvPr>
          <p:cNvSpPr txBox="1"/>
          <p:nvPr/>
        </p:nvSpPr>
        <p:spPr>
          <a:xfrm>
            <a:off x="296029" y="1085712"/>
            <a:ext cx="8703246" cy="3521092"/>
          </a:xfrm>
          <a:prstGeom prst="rect">
            <a:avLst/>
          </a:prstGeom>
          <a:noFill/>
        </p:spPr>
        <p:txBody>
          <a:bodyPr wrap="square">
            <a:spAutoFit/>
          </a:bodyPr>
          <a:lstStyle/>
          <a:p>
            <a:pPr marL="14605" algn="just">
              <a:lnSpc>
                <a:spcPct val="150000"/>
              </a:lnSpc>
              <a:spcBef>
                <a:spcPts val="385"/>
              </a:spcBef>
              <a:buNone/>
            </a:pPr>
            <a:r>
              <a:rPr lang="en-US" sz="1200" dirty="0">
                <a:latin typeface="Calibri" panose="020F0502020204030204" pitchFamily="34" charset="0"/>
                <a:ea typeface="Calibri" panose="020F0502020204030204" pitchFamily="34" charset="0"/>
                <a:cs typeface="Calibri" panose="020F0502020204030204" pitchFamily="34" charset="0"/>
              </a:rPr>
              <a:t>A semantic search module was developed to retrieve relevant information from the scraped data using the Gemini embeddings. A question-answering feature was implemented, allowing users to input queries and receive contextually accurate answers. The module was tested with sample queries to ensure correct and meaningful results.</a:t>
            </a:r>
            <a:endParaRPr lang="en-IN" sz="1200" dirty="0">
              <a:effectLst/>
              <a:latin typeface="Calibri" panose="020F0502020204030204" pitchFamily="34" charset="0"/>
              <a:ea typeface="Calibri" panose="020F0502020204030204" pitchFamily="34" charset="0"/>
              <a:cs typeface="Calibri" panose="020F0502020204030204" pitchFamily="34" charset="0"/>
            </a:endParaRPr>
          </a:p>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Users can enter natural language queries in the query tab of the dashboard.</a:t>
            </a:r>
          </a:p>
          <a:p>
            <a:pPr marL="14605" algn="just">
              <a:lnSpc>
                <a:spcPct val="150000"/>
              </a:lnSpc>
              <a:spcBef>
                <a:spcPts val="385"/>
              </a:spcBef>
              <a:buNone/>
            </a:pPr>
            <a:r>
              <a:rPr lang="en-IN" sz="1200" dirty="0" err="1">
                <a:effectLst/>
                <a:latin typeface="Calibri" panose="020F0502020204030204" pitchFamily="34" charset="0"/>
                <a:ea typeface="Calibri" panose="020F0502020204030204" pitchFamily="34" charset="0"/>
              </a:rPr>
              <a:t>WebSage</a:t>
            </a:r>
            <a:r>
              <a:rPr lang="en-IN" sz="1200" dirty="0">
                <a:effectLst/>
                <a:latin typeface="Calibri" panose="020F0502020204030204" pitchFamily="34" charset="0"/>
                <a:ea typeface="Calibri" panose="020F0502020204030204" pitchFamily="34" charset="0"/>
              </a:rPr>
              <a:t> uses Gemini AI embeddings to perform semantic search on the scraped product data.</a:t>
            </a:r>
          </a:p>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The system matches the query with relevant products and displays the results in a table or visualization.</a:t>
            </a:r>
          </a:p>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Example queries for a single website:</a:t>
            </a:r>
          </a:p>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“What are the features of this smartphone?”</a:t>
            </a:r>
          </a:p>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Example queries for two websites comparison:</a:t>
            </a:r>
          </a:p>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“Compare budget laptops from both websites.”</a:t>
            </a:r>
          </a:p>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“Which smartphone has better features and price?”</a:t>
            </a:r>
          </a:p>
        </p:txBody>
      </p:sp>
    </p:spTree>
    <p:extLst>
      <p:ext uri="{BB962C8B-B14F-4D97-AF65-F5344CB8AC3E}">
        <p14:creationId xmlns:p14="http://schemas.microsoft.com/office/powerpoint/2010/main" val="992890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D9C594-853B-D644-0DDE-D1D022AE6ED9}"/>
              </a:ext>
            </a:extLst>
          </p:cNvPr>
          <p:cNvSpPr txBox="1"/>
          <p:nvPr/>
        </p:nvSpPr>
        <p:spPr>
          <a:xfrm>
            <a:off x="437464" y="688150"/>
            <a:ext cx="7068510" cy="369332"/>
          </a:xfrm>
          <a:prstGeom prst="rect">
            <a:avLst/>
          </a:prstGeom>
          <a:noFill/>
        </p:spPr>
        <p:txBody>
          <a:bodyPr wrap="square">
            <a:spAutoFit/>
          </a:bodyPr>
          <a:lstStyle/>
          <a:p>
            <a:r>
              <a:rPr lang="en-US" sz="1800" b="1" dirty="0"/>
              <a:t> Design </a:t>
            </a:r>
            <a:r>
              <a:rPr lang="en-US" sz="1800" b="1" dirty="0" err="1"/>
              <a:t>Streamlit</a:t>
            </a:r>
            <a:r>
              <a:rPr lang="en-US" sz="1800" b="1" dirty="0"/>
              <a:t> interface and integrate search.</a:t>
            </a:r>
            <a:endParaRPr lang="en-IN" sz="1800" b="1" dirty="0"/>
          </a:p>
        </p:txBody>
      </p:sp>
      <p:sp>
        <p:nvSpPr>
          <p:cNvPr id="7" name="TextBox 6">
            <a:extLst>
              <a:ext uri="{FF2B5EF4-FFF2-40B4-BE49-F238E27FC236}">
                <a16:creationId xmlns:a16="http://schemas.microsoft.com/office/drawing/2014/main" id="{50E6764A-1F5B-4D7E-25E0-03D4365AA73B}"/>
              </a:ext>
            </a:extLst>
          </p:cNvPr>
          <p:cNvSpPr txBox="1"/>
          <p:nvPr/>
        </p:nvSpPr>
        <p:spPr>
          <a:xfrm>
            <a:off x="355235" y="1136423"/>
            <a:ext cx="6726431" cy="1982209"/>
          </a:xfrm>
          <a:prstGeom prst="rect">
            <a:avLst/>
          </a:prstGeom>
          <a:noFill/>
        </p:spPr>
        <p:txBody>
          <a:bodyPr wrap="square">
            <a:spAutoFit/>
          </a:bodyPr>
          <a:lstStyle/>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The </a:t>
            </a:r>
            <a:r>
              <a:rPr lang="en-IN" sz="1200" dirty="0" err="1">
                <a:effectLst/>
                <a:latin typeface="Calibri" panose="020F0502020204030204" pitchFamily="34" charset="0"/>
                <a:ea typeface="Calibri" panose="020F0502020204030204" pitchFamily="34" charset="0"/>
              </a:rPr>
              <a:t>Streamlit</a:t>
            </a:r>
            <a:r>
              <a:rPr lang="en-IN" sz="1200" dirty="0">
                <a:effectLst/>
                <a:latin typeface="Calibri" panose="020F0502020204030204" pitchFamily="34" charset="0"/>
                <a:ea typeface="Calibri" panose="020F0502020204030204" pitchFamily="34" charset="0"/>
              </a:rPr>
              <a:t> interface is the front-end of </a:t>
            </a:r>
            <a:r>
              <a:rPr lang="en-IN" sz="1200" dirty="0" err="1">
                <a:effectLst/>
                <a:latin typeface="Calibri" panose="020F0502020204030204" pitchFamily="34" charset="0"/>
                <a:ea typeface="Calibri" panose="020F0502020204030204" pitchFamily="34" charset="0"/>
              </a:rPr>
              <a:t>WebSage</a:t>
            </a:r>
            <a:r>
              <a:rPr lang="en-IN" sz="1200" dirty="0">
                <a:effectLst/>
                <a:latin typeface="Calibri" panose="020F0502020204030204" pitchFamily="34" charset="0"/>
                <a:ea typeface="Calibri" panose="020F0502020204030204" pitchFamily="34" charset="0"/>
              </a:rPr>
              <a:t> where users interact with the system.</a:t>
            </a:r>
          </a:p>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It is user-friendly, interactive, and web-based, allowing users to:</a:t>
            </a:r>
          </a:p>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Login/Signup – Access the system securely.</a:t>
            </a:r>
          </a:p>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Single Website Tab – Enter a website link and ask queries for detailed product information.</a:t>
            </a:r>
          </a:p>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Two Websites Tab – Enter two website links for comparison and semantic summarization.</a:t>
            </a:r>
          </a:p>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Dashboard – View scraped data tables, query results, and visual insights (charts, summaries).</a:t>
            </a:r>
          </a:p>
        </p:txBody>
      </p:sp>
    </p:spTree>
    <p:extLst>
      <p:ext uri="{BB962C8B-B14F-4D97-AF65-F5344CB8AC3E}">
        <p14:creationId xmlns:p14="http://schemas.microsoft.com/office/powerpoint/2010/main" val="1660275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E8F553-47EA-7479-20B1-024227A72867}"/>
              </a:ext>
            </a:extLst>
          </p:cNvPr>
          <p:cNvPicPr>
            <a:picLocks noChangeAspect="1"/>
          </p:cNvPicPr>
          <p:nvPr/>
        </p:nvPicPr>
        <p:blipFill>
          <a:blip r:embed="rId2"/>
          <a:srcRect t="7112"/>
          <a:stretch>
            <a:fillRect/>
          </a:stretch>
        </p:blipFill>
        <p:spPr>
          <a:xfrm>
            <a:off x="116688" y="326003"/>
            <a:ext cx="6053868" cy="2121168"/>
          </a:xfrm>
          <a:prstGeom prst="rect">
            <a:avLst/>
          </a:prstGeom>
        </p:spPr>
      </p:pic>
      <p:pic>
        <p:nvPicPr>
          <p:cNvPr id="5" name="Picture 4">
            <a:extLst>
              <a:ext uri="{FF2B5EF4-FFF2-40B4-BE49-F238E27FC236}">
                <a16:creationId xmlns:a16="http://schemas.microsoft.com/office/drawing/2014/main" id="{9E701833-83CF-3427-EC93-C42CA03979B8}"/>
              </a:ext>
            </a:extLst>
          </p:cNvPr>
          <p:cNvPicPr>
            <a:picLocks noChangeAspect="1"/>
          </p:cNvPicPr>
          <p:nvPr/>
        </p:nvPicPr>
        <p:blipFill>
          <a:blip r:embed="rId3"/>
          <a:srcRect t="7112"/>
          <a:stretch>
            <a:fillRect/>
          </a:stretch>
        </p:blipFill>
        <p:spPr>
          <a:xfrm>
            <a:off x="2978299" y="2660597"/>
            <a:ext cx="6056263" cy="2032322"/>
          </a:xfrm>
          <a:prstGeom prst="rect">
            <a:avLst/>
          </a:prstGeom>
        </p:spPr>
      </p:pic>
    </p:spTree>
    <p:extLst>
      <p:ext uri="{BB962C8B-B14F-4D97-AF65-F5344CB8AC3E}">
        <p14:creationId xmlns:p14="http://schemas.microsoft.com/office/powerpoint/2010/main" val="146407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12577D1-55EE-2292-73FF-698F32A6B10A}"/>
              </a:ext>
            </a:extLst>
          </p:cNvPr>
          <p:cNvSpPr txBox="1"/>
          <p:nvPr/>
        </p:nvSpPr>
        <p:spPr>
          <a:xfrm>
            <a:off x="647974" y="578629"/>
            <a:ext cx="4650940" cy="382092"/>
          </a:xfrm>
          <a:prstGeom prst="rect">
            <a:avLst/>
          </a:prstGeom>
          <a:noFill/>
        </p:spPr>
        <p:txBody>
          <a:bodyPr wrap="square">
            <a:spAutoFit/>
          </a:bodyPr>
          <a:lstStyle/>
          <a:p>
            <a:pPr marL="14605" algn="just">
              <a:lnSpc>
                <a:spcPct val="150000"/>
              </a:lnSpc>
              <a:spcBef>
                <a:spcPts val="385"/>
              </a:spcBef>
              <a:buNone/>
            </a:pPr>
            <a:r>
              <a:rPr lang="en-US" sz="1400" b="1" u="sng" dirty="0">
                <a:effectLst/>
                <a:latin typeface="Calibri" panose="020F0502020204030204" pitchFamily="34" charset="0"/>
                <a:ea typeface="Calibri" panose="020F0502020204030204" pitchFamily="34" charset="0"/>
              </a:rPr>
              <a:t> Multi-Language Support</a:t>
            </a:r>
            <a:endParaRPr lang="en-IN" sz="1200" dirty="0">
              <a:effectLst/>
              <a:latin typeface="Calibri" panose="020F0502020204030204" pitchFamily="34" charset="0"/>
              <a:ea typeface="Calibri" panose="020F0502020204030204" pitchFamily="34" charset="0"/>
            </a:endParaRPr>
          </a:p>
        </p:txBody>
      </p:sp>
      <p:pic>
        <p:nvPicPr>
          <p:cNvPr id="6" name="Picture 5">
            <a:extLst>
              <a:ext uri="{FF2B5EF4-FFF2-40B4-BE49-F238E27FC236}">
                <a16:creationId xmlns:a16="http://schemas.microsoft.com/office/drawing/2014/main" id="{0DA4CDFB-9F9B-D6EB-FC84-FBB6F131CA8E}"/>
              </a:ext>
            </a:extLst>
          </p:cNvPr>
          <p:cNvPicPr>
            <a:picLocks noChangeAspect="1"/>
          </p:cNvPicPr>
          <p:nvPr/>
        </p:nvPicPr>
        <p:blipFill>
          <a:blip r:embed="rId2"/>
          <a:stretch>
            <a:fillRect/>
          </a:stretch>
        </p:blipFill>
        <p:spPr>
          <a:xfrm>
            <a:off x="2947987" y="714375"/>
            <a:ext cx="3248025" cy="3714750"/>
          </a:xfrm>
          <a:prstGeom prst="rect">
            <a:avLst/>
          </a:prstGeom>
        </p:spPr>
      </p:pic>
    </p:spTree>
    <p:extLst>
      <p:ext uri="{BB962C8B-B14F-4D97-AF65-F5344CB8AC3E}">
        <p14:creationId xmlns:p14="http://schemas.microsoft.com/office/powerpoint/2010/main" val="2941096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8A4D887-F664-324E-1DC2-1CBC36CB3BBF}"/>
              </a:ext>
            </a:extLst>
          </p:cNvPr>
          <p:cNvSpPr txBox="1"/>
          <p:nvPr/>
        </p:nvSpPr>
        <p:spPr>
          <a:xfrm>
            <a:off x="516406" y="578629"/>
            <a:ext cx="5910708" cy="464871"/>
          </a:xfrm>
          <a:prstGeom prst="rect">
            <a:avLst/>
          </a:prstGeom>
          <a:noFill/>
        </p:spPr>
        <p:txBody>
          <a:bodyPr wrap="square">
            <a:spAutoFit/>
          </a:bodyPr>
          <a:lstStyle/>
          <a:p>
            <a:pPr marL="14605" algn="just">
              <a:lnSpc>
                <a:spcPct val="150000"/>
              </a:lnSpc>
              <a:spcBef>
                <a:spcPts val="385"/>
              </a:spcBef>
              <a:buNone/>
            </a:pPr>
            <a:r>
              <a:rPr lang="en-US" sz="1800" b="1" dirty="0">
                <a:effectLst/>
                <a:latin typeface="Calibri" panose="020F0502020204030204" pitchFamily="34" charset="0"/>
                <a:ea typeface="Calibri" panose="020F0502020204030204" pitchFamily="34" charset="0"/>
              </a:rPr>
              <a:t>Single Website Product Scraping and Query</a:t>
            </a:r>
            <a:endParaRPr lang="en-IN" sz="1800" dirty="0">
              <a:effectLst/>
              <a:latin typeface="Calibri" panose="020F0502020204030204" pitchFamily="34" charset="0"/>
              <a:ea typeface="Calibri" panose="020F0502020204030204" pitchFamily="34" charset="0"/>
            </a:endParaRPr>
          </a:p>
        </p:txBody>
      </p:sp>
      <p:sp>
        <p:nvSpPr>
          <p:cNvPr id="7" name="TextBox 6">
            <a:extLst>
              <a:ext uri="{FF2B5EF4-FFF2-40B4-BE49-F238E27FC236}">
                <a16:creationId xmlns:a16="http://schemas.microsoft.com/office/drawing/2014/main" id="{A0C61D24-A45E-20E7-37E3-20EC42636153}"/>
              </a:ext>
            </a:extLst>
          </p:cNvPr>
          <p:cNvSpPr txBox="1"/>
          <p:nvPr/>
        </p:nvSpPr>
        <p:spPr>
          <a:xfrm>
            <a:off x="516406" y="960721"/>
            <a:ext cx="8469712" cy="997324"/>
          </a:xfrm>
          <a:prstGeom prst="rect">
            <a:avLst/>
          </a:prstGeom>
          <a:noFill/>
        </p:spPr>
        <p:txBody>
          <a:bodyPr wrap="square">
            <a:spAutoFit/>
          </a:bodyPr>
          <a:lstStyle/>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The user enters a </a:t>
            </a:r>
            <a:r>
              <a:rPr lang="en-IN" sz="1200" b="1" dirty="0">
                <a:effectLst/>
                <a:latin typeface="Calibri" panose="020F0502020204030204" pitchFamily="34" charset="0"/>
                <a:ea typeface="Calibri" panose="020F0502020204030204" pitchFamily="34" charset="0"/>
              </a:rPr>
              <a:t>single e-commerce website link</a:t>
            </a:r>
            <a:r>
              <a:rPr lang="en-IN" sz="1200" dirty="0">
                <a:effectLst/>
                <a:latin typeface="Calibri" panose="020F0502020204030204" pitchFamily="34" charset="0"/>
                <a:ea typeface="Calibri" panose="020F0502020204030204" pitchFamily="34" charset="0"/>
              </a:rPr>
              <a:t> in the dashboard.</a:t>
            </a:r>
          </a:p>
          <a:p>
            <a:pPr marL="14605" algn="just">
              <a:lnSpc>
                <a:spcPct val="150000"/>
              </a:lnSpc>
              <a:spcBef>
                <a:spcPts val="385"/>
              </a:spcBef>
              <a:buNone/>
            </a:pPr>
            <a:r>
              <a:rPr lang="en-IN" sz="1200" dirty="0" err="1">
                <a:effectLst/>
                <a:latin typeface="Calibri" panose="020F0502020204030204" pitchFamily="34" charset="0"/>
                <a:ea typeface="Calibri" panose="020F0502020204030204" pitchFamily="34" charset="0"/>
              </a:rPr>
              <a:t>WebSage</a:t>
            </a:r>
            <a:r>
              <a:rPr lang="en-IN" sz="1200" dirty="0">
                <a:effectLst/>
                <a:latin typeface="Calibri" panose="020F0502020204030204" pitchFamily="34" charset="0"/>
                <a:ea typeface="Calibri" panose="020F0502020204030204" pitchFamily="34" charset="0"/>
              </a:rPr>
              <a:t> scrapes product details like </a:t>
            </a:r>
            <a:r>
              <a:rPr lang="en-IN" sz="1200" b="1" dirty="0">
                <a:effectLst/>
                <a:latin typeface="Calibri" panose="020F0502020204030204" pitchFamily="34" charset="0"/>
                <a:ea typeface="Calibri" panose="020F0502020204030204" pitchFamily="34" charset="0"/>
              </a:rPr>
              <a:t>name, price, features, and reviews</a:t>
            </a:r>
            <a:r>
              <a:rPr lang="en-IN" sz="1200" dirty="0">
                <a:effectLst/>
                <a:latin typeface="Calibri" panose="020F0502020204030204" pitchFamily="34" charset="0"/>
                <a:ea typeface="Calibri" panose="020F0502020204030204" pitchFamily="34" charset="0"/>
              </a:rPr>
              <a:t> from that website only.</a:t>
            </a:r>
          </a:p>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In the </a:t>
            </a:r>
            <a:r>
              <a:rPr lang="en-IN" sz="1200" b="1" dirty="0">
                <a:effectLst/>
                <a:latin typeface="Calibri" panose="020F0502020204030204" pitchFamily="34" charset="0"/>
                <a:ea typeface="Calibri" panose="020F0502020204030204" pitchFamily="34" charset="0"/>
              </a:rPr>
              <a:t>query tab</a:t>
            </a:r>
            <a:r>
              <a:rPr lang="en-IN" sz="1200" dirty="0">
                <a:effectLst/>
                <a:latin typeface="Calibri" panose="020F0502020204030204" pitchFamily="34" charset="0"/>
                <a:ea typeface="Calibri" panose="020F0502020204030204" pitchFamily="34" charset="0"/>
              </a:rPr>
              <a:t>, the user can ask for </a:t>
            </a:r>
            <a:r>
              <a:rPr lang="en-IN" sz="1200" b="1" dirty="0">
                <a:effectLst/>
                <a:latin typeface="Calibri" panose="020F0502020204030204" pitchFamily="34" charset="0"/>
                <a:ea typeface="Calibri" panose="020F0502020204030204" pitchFamily="34" charset="0"/>
              </a:rPr>
              <a:t>detailed information or analysis of products</a:t>
            </a:r>
            <a:r>
              <a:rPr lang="en-IN" sz="1200" dirty="0">
                <a:effectLst/>
                <a:latin typeface="Calibri" panose="020F0502020204030204" pitchFamily="34" charset="0"/>
                <a:ea typeface="Calibri" panose="020F0502020204030204" pitchFamily="34" charset="0"/>
              </a:rPr>
              <a:t> from that website.</a:t>
            </a:r>
          </a:p>
        </p:txBody>
      </p:sp>
      <p:pic>
        <p:nvPicPr>
          <p:cNvPr id="8" name="Picture 7">
            <a:extLst>
              <a:ext uri="{FF2B5EF4-FFF2-40B4-BE49-F238E27FC236}">
                <a16:creationId xmlns:a16="http://schemas.microsoft.com/office/drawing/2014/main" id="{75A8F1FE-C5B8-1C34-C9BB-41E21CF1901D}"/>
              </a:ext>
            </a:extLst>
          </p:cNvPr>
          <p:cNvPicPr>
            <a:picLocks noChangeAspect="1"/>
          </p:cNvPicPr>
          <p:nvPr/>
        </p:nvPicPr>
        <p:blipFill>
          <a:blip r:embed="rId2"/>
          <a:stretch>
            <a:fillRect/>
          </a:stretch>
        </p:blipFill>
        <p:spPr>
          <a:xfrm>
            <a:off x="1287644" y="2249097"/>
            <a:ext cx="5650699" cy="2046610"/>
          </a:xfrm>
          <a:prstGeom prst="rect">
            <a:avLst/>
          </a:prstGeom>
        </p:spPr>
      </p:pic>
    </p:spTree>
    <p:extLst>
      <p:ext uri="{BB962C8B-B14F-4D97-AF65-F5344CB8AC3E}">
        <p14:creationId xmlns:p14="http://schemas.microsoft.com/office/powerpoint/2010/main" val="1318818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E5E90-5E5C-D240-D6A1-A04E9F3EB81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3696178-534F-D9A7-C8D4-237647B4D9BC}"/>
              </a:ext>
            </a:extLst>
          </p:cNvPr>
          <p:cNvPicPr>
            <a:picLocks noChangeAspect="1"/>
          </p:cNvPicPr>
          <p:nvPr/>
        </p:nvPicPr>
        <p:blipFill>
          <a:blip r:embed="rId2"/>
          <a:stretch>
            <a:fillRect/>
          </a:stretch>
        </p:blipFill>
        <p:spPr>
          <a:xfrm>
            <a:off x="1465262" y="1049337"/>
            <a:ext cx="6213475" cy="3044825"/>
          </a:xfrm>
          <a:prstGeom prst="rect">
            <a:avLst/>
          </a:prstGeom>
        </p:spPr>
      </p:pic>
    </p:spTree>
    <p:extLst>
      <p:ext uri="{BB962C8B-B14F-4D97-AF65-F5344CB8AC3E}">
        <p14:creationId xmlns:p14="http://schemas.microsoft.com/office/powerpoint/2010/main" val="32521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1DEBC66-B5EF-D24D-FCFF-58BD570D7263}"/>
              </a:ext>
            </a:extLst>
          </p:cNvPr>
          <p:cNvSpPr txBox="1"/>
          <p:nvPr/>
        </p:nvSpPr>
        <p:spPr>
          <a:xfrm>
            <a:off x="542719" y="473374"/>
            <a:ext cx="4650940" cy="382092"/>
          </a:xfrm>
          <a:prstGeom prst="rect">
            <a:avLst/>
          </a:prstGeom>
          <a:noFill/>
        </p:spPr>
        <p:txBody>
          <a:bodyPr wrap="square">
            <a:spAutoFit/>
          </a:bodyPr>
          <a:lstStyle/>
          <a:p>
            <a:pPr marL="14605" algn="just">
              <a:lnSpc>
                <a:spcPct val="150000"/>
              </a:lnSpc>
              <a:spcBef>
                <a:spcPts val="385"/>
              </a:spcBef>
              <a:buNone/>
            </a:pPr>
            <a:r>
              <a:rPr lang="en-US" sz="1400" b="1" dirty="0">
                <a:effectLst/>
                <a:latin typeface="Calibri" panose="020F0502020204030204" pitchFamily="34" charset="0"/>
                <a:ea typeface="Calibri" panose="020F0502020204030204" pitchFamily="34" charset="0"/>
              </a:rPr>
              <a:t> Scrape Two Websites (For Comparison)</a:t>
            </a:r>
            <a:endParaRPr lang="en-IN" sz="1200" dirty="0">
              <a:effectLst/>
              <a:latin typeface="Calibri" panose="020F0502020204030204" pitchFamily="34" charset="0"/>
              <a:ea typeface="Calibri" panose="020F0502020204030204" pitchFamily="34" charset="0"/>
            </a:endParaRPr>
          </a:p>
        </p:txBody>
      </p:sp>
      <p:sp>
        <p:nvSpPr>
          <p:cNvPr id="7" name="TextBox 6">
            <a:extLst>
              <a:ext uri="{FF2B5EF4-FFF2-40B4-BE49-F238E27FC236}">
                <a16:creationId xmlns:a16="http://schemas.microsoft.com/office/drawing/2014/main" id="{275156BB-4608-039C-525A-A0195AD5E320}"/>
              </a:ext>
            </a:extLst>
          </p:cNvPr>
          <p:cNvSpPr txBox="1"/>
          <p:nvPr/>
        </p:nvSpPr>
        <p:spPr>
          <a:xfrm>
            <a:off x="342077" y="772983"/>
            <a:ext cx="8380903" cy="1325619"/>
          </a:xfrm>
          <a:prstGeom prst="rect">
            <a:avLst/>
          </a:prstGeom>
          <a:noFill/>
        </p:spPr>
        <p:txBody>
          <a:bodyPr wrap="square">
            <a:spAutoFit/>
          </a:bodyPr>
          <a:lstStyle/>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The user provides links for two e-commerce websites in the dashboard.</a:t>
            </a:r>
          </a:p>
          <a:p>
            <a:pPr marL="14605" algn="just">
              <a:lnSpc>
                <a:spcPct val="150000"/>
              </a:lnSpc>
              <a:spcBef>
                <a:spcPts val="385"/>
              </a:spcBef>
              <a:buNone/>
            </a:pPr>
            <a:r>
              <a:rPr lang="en-IN" sz="1200" dirty="0" err="1">
                <a:effectLst/>
                <a:latin typeface="Calibri" panose="020F0502020204030204" pitchFamily="34" charset="0"/>
                <a:ea typeface="Calibri" panose="020F0502020204030204" pitchFamily="34" charset="0"/>
              </a:rPr>
              <a:t>WebSage</a:t>
            </a:r>
            <a:r>
              <a:rPr lang="en-IN" sz="1200" dirty="0">
                <a:effectLst/>
                <a:latin typeface="Calibri" panose="020F0502020204030204" pitchFamily="34" charset="0"/>
                <a:ea typeface="Calibri" panose="020F0502020204030204" pitchFamily="34" charset="0"/>
              </a:rPr>
              <a:t> scrapes product details from both websites, including:</a:t>
            </a:r>
          </a:p>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Product name, Price</a:t>
            </a:r>
            <a:r>
              <a:rPr lang="en-IN" sz="1200" dirty="0">
                <a:latin typeface="Calibri" panose="020F0502020204030204" pitchFamily="34" charset="0"/>
                <a:ea typeface="Calibri" panose="020F0502020204030204" pitchFamily="34" charset="0"/>
              </a:rPr>
              <a:t>, </a:t>
            </a:r>
            <a:r>
              <a:rPr lang="en-IN" sz="1200" dirty="0">
                <a:effectLst/>
                <a:latin typeface="Calibri" panose="020F0502020204030204" pitchFamily="34" charset="0"/>
                <a:ea typeface="Calibri" panose="020F0502020204030204" pitchFamily="34" charset="0"/>
              </a:rPr>
              <a:t>Features</a:t>
            </a:r>
            <a:r>
              <a:rPr lang="en-IN" sz="1200" dirty="0">
                <a:latin typeface="Calibri" panose="020F0502020204030204" pitchFamily="34" charset="0"/>
                <a:ea typeface="Calibri" panose="020F0502020204030204" pitchFamily="34" charset="0"/>
              </a:rPr>
              <a:t>, </a:t>
            </a:r>
            <a:r>
              <a:rPr lang="en-IN" sz="1200" dirty="0">
                <a:effectLst/>
                <a:latin typeface="Calibri" panose="020F0502020204030204" pitchFamily="34" charset="0"/>
                <a:ea typeface="Calibri" panose="020F0502020204030204" pitchFamily="34" charset="0"/>
              </a:rPr>
              <a:t>Reviews</a:t>
            </a:r>
          </a:p>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After scraping, the system compares products side by side using the scraped data.</a:t>
            </a:r>
          </a:p>
        </p:txBody>
      </p:sp>
      <p:pic>
        <p:nvPicPr>
          <p:cNvPr id="8" name="Picture 7">
            <a:extLst>
              <a:ext uri="{FF2B5EF4-FFF2-40B4-BE49-F238E27FC236}">
                <a16:creationId xmlns:a16="http://schemas.microsoft.com/office/drawing/2014/main" id="{24B43367-0C38-A875-4B06-D5D47FA04A99}"/>
              </a:ext>
            </a:extLst>
          </p:cNvPr>
          <p:cNvPicPr>
            <a:picLocks noChangeAspect="1"/>
          </p:cNvPicPr>
          <p:nvPr/>
        </p:nvPicPr>
        <p:blipFill>
          <a:blip r:embed="rId2"/>
          <a:stretch>
            <a:fillRect/>
          </a:stretch>
        </p:blipFill>
        <p:spPr>
          <a:xfrm>
            <a:off x="1221860" y="2146951"/>
            <a:ext cx="6213475" cy="2529840"/>
          </a:xfrm>
          <a:prstGeom prst="rect">
            <a:avLst/>
          </a:prstGeom>
        </p:spPr>
      </p:pic>
    </p:spTree>
    <p:extLst>
      <p:ext uri="{BB962C8B-B14F-4D97-AF65-F5344CB8AC3E}">
        <p14:creationId xmlns:p14="http://schemas.microsoft.com/office/powerpoint/2010/main" val="1592942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1C3A9D-8829-F4F5-11F7-A4C7FF5FA7EE}"/>
              </a:ext>
            </a:extLst>
          </p:cNvPr>
          <p:cNvPicPr>
            <a:picLocks noChangeAspect="1"/>
          </p:cNvPicPr>
          <p:nvPr/>
        </p:nvPicPr>
        <p:blipFill>
          <a:blip r:embed="rId2"/>
          <a:stretch>
            <a:fillRect/>
          </a:stretch>
        </p:blipFill>
        <p:spPr>
          <a:xfrm>
            <a:off x="272854" y="425852"/>
            <a:ext cx="4299146" cy="1922643"/>
          </a:xfrm>
          <a:prstGeom prst="rect">
            <a:avLst/>
          </a:prstGeom>
        </p:spPr>
      </p:pic>
      <p:pic>
        <p:nvPicPr>
          <p:cNvPr id="5" name="Picture 4">
            <a:extLst>
              <a:ext uri="{FF2B5EF4-FFF2-40B4-BE49-F238E27FC236}">
                <a16:creationId xmlns:a16="http://schemas.microsoft.com/office/drawing/2014/main" id="{87393834-5D56-15E6-243C-B64E87C96B61}"/>
              </a:ext>
            </a:extLst>
          </p:cNvPr>
          <p:cNvPicPr>
            <a:picLocks noChangeAspect="1"/>
          </p:cNvPicPr>
          <p:nvPr/>
        </p:nvPicPr>
        <p:blipFill>
          <a:blip r:embed="rId3"/>
          <a:stretch>
            <a:fillRect/>
          </a:stretch>
        </p:blipFill>
        <p:spPr>
          <a:xfrm>
            <a:off x="3177375" y="2506377"/>
            <a:ext cx="5198674" cy="2329707"/>
          </a:xfrm>
          <a:prstGeom prst="rect">
            <a:avLst/>
          </a:prstGeom>
        </p:spPr>
      </p:pic>
    </p:spTree>
    <p:extLst>
      <p:ext uri="{BB962C8B-B14F-4D97-AF65-F5344CB8AC3E}">
        <p14:creationId xmlns:p14="http://schemas.microsoft.com/office/powerpoint/2010/main" val="2842034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643BE2B-26B9-F7CB-7434-46B00AA067C6}"/>
              </a:ext>
            </a:extLst>
          </p:cNvPr>
          <p:cNvSpPr txBox="1"/>
          <p:nvPr/>
        </p:nvSpPr>
        <p:spPr>
          <a:xfrm>
            <a:off x="661131" y="539158"/>
            <a:ext cx="4650940" cy="423449"/>
          </a:xfrm>
          <a:prstGeom prst="rect">
            <a:avLst/>
          </a:prstGeom>
          <a:noFill/>
        </p:spPr>
        <p:txBody>
          <a:bodyPr wrap="square">
            <a:spAutoFit/>
          </a:bodyPr>
          <a:lstStyle/>
          <a:p>
            <a:pPr marL="14605" algn="just">
              <a:lnSpc>
                <a:spcPct val="150000"/>
              </a:lnSpc>
              <a:spcBef>
                <a:spcPts val="385"/>
              </a:spcBef>
              <a:buNone/>
            </a:pPr>
            <a:r>
              <a:rPr lang="en-US" sz="1600" b="1" dirty="0">
                <a:effectLst/>
                <a:latin typeface="Calibri" panose="020F0502020204030204" pitchFamily="34" charset="0"/>
                <a:ea typeface="Calibri" panose="020F0502020204030204" pitchFamily="34" charset="0"/>
              </a:rPr>
              <a:t>Week-14 : Visualize Data</a:t>
            </a:r>
            <a:endParaRPr lang="en-IN" sz="1600" dirty="0">
              <a:effectLst/>
              <a:latin typeface="Calibri" panose="020F0502020204030204" pitchFamily="34" charset="0"/>
              <a:ea typeface="Calibri" panose="020F0502020204030204" pitchFamily="34" charset="0"/>
            </a:endParaRPr>
          </a:p>
        </p:txBody>
      </p:sp>
      <p:sp>
        <p:nvSpPr>
          <p:cNvPr id="7" name="TextBox 6">
            <a:extLst>
              <a:ext uri="{FF2B5EF4-FFF2-40B4-BE49-F238E27FC236}">
                <a16:creationId xmlns:a16="http://schemas.microsoft.com/office/drawing/2014/main" id="{35F91377-3080-FFC5-594F-F9CB28F3ABE4}"/>
              </a:ext>
            </a:extLst>
          </p:cNvPr>
          <p:cNvSpPr txBox="1"/>
          <p:nvPr/>
        </p:nvSpPr>
        <p:spPr>
          <a:xfrm>
            <a:off x="661131" y="1005403"/>
            <a:ext cx="7838184" cy="340734"/>
          </a:xfrm>
          <a:prstGeom prst="rect">
            <a:avLst/>
          </a:prstGeom>
          <a:noFill/>
        </p:spPr>
        <p:txBody>
          <a:bodyPr wrap="square">
            <a:spAutoFit/>
          </a:bodyPr>
          <a:lstStyle/>
          <a:p>
            <a:pPr marL="14605" algn="just">
              <a:lnSpc>
                <a:spcPct val="150000"/>
              </a:lnSpc>
              <a:spcBef>
                <a:spcPts val="385"/>
              </a:spcBef>
              <a:buNone/>
            </a:pPr>
            <a:r>
              <a:rPr lang="en-IN" sz="1200" dirty="0">
                <a:effectLst/>
                <a:latin typeface="Calibri" panose="020F0502020204030204" pitchFamily="34" charset="0"/>
                <a:ea typeface="Calibri" panose="020F0502020204030204" pitchFamily="34" charset="0"/>
              </a:rPr>
              <a:t>After scraping and processing product data, </a:t>
            </a:r>
            <a:r>
              <a:rPr lang="en-IN" sz="1200" dirty="0" err="1">
                <a:effectLst/>
                <a:latin typeface="Calibri" panose="020F0502020204030204" pitchFamily="34" charset="0"/>
                <a:ea typeface="Calibri" panose="020F0502020204030204" pitchFamily="34" charset="0"/>
              </a:rPr>
              <a:t>WebSage</a:t>
            </a:r>
            <a:r>
              <a:rPr lang="en-IN" sz="1200" dirty="0">
                <a:effectLst/>
                <a:latin typeface="Calibri" panose="020F0502020204030204" pitchFamily="34" charset="0"/>
                <a:ea typeface="Calibri" panose="020F0502020204030204" pitchFamily="34" charset="0"/>
              </a:rPr>
              <a:t> provides visual insights to help users </a:t>
            </a:r>
            <a:r>
              <a:rPr lang="en-IN" sz="1200" dirty="0" err="1">
                <a:effectLst/>
                <a:latin typeface="Calibri" panose="020F0502020204030204" pitchFamily="34" charset="0"/>
                <a:ea typeface="Calibri" panose="020F0502020204030204" pitchFamily="34" charset="0"/>
              </a:rPr>
              <a:t>analyze</a:t>
            </a:r>
            <a:r>
              <a:rPr lang="en-IN" sz="1200" dirty="0">
                <a:effectLst/>
                <a:latin typeface="Calibri" panose="020F0502020204030204" pitchFamily="34" charset="0"/>
                <a:ea typeface="Calibri" panose="020F0502020204030204" pitchFamily="34" charset="0"/>
              </a:rPr>
              <a:t> the information quickly.</a:t>
            </a:r>
          </a:p>
        </p:txBody>
      </p:sp>
      <p:pic>
        <p:nvPicPr>
          <p:cNvPr id="8" name="Picture 7">
            <a:extLst>
              <a:ext uri="{FF2B5EF4-FFF2-40B4-BE49-F238E27FC236}">
                <a16:creationId xmlns:a16="http://schemas.microsoft.com/office/drawing/2014/main" id="{1B7C8042-32C6-7657-C315-3444C70E398C}"/>
              </a:ext>
            </a:extLst>
          </p:cNvPr>
          <p:cNvPicPr>
            <a:picLocks noChangeAspect="1"/>
          </p:cNvPicPr>
          <p:nvPr/>
        </p:nvPicPr>
        <p:blipFill>
          <a:blip r:embed="rId2"/>
          <a:stretch>
            <a:fillRect/>
          </a:stretch>
        </p:blipFill>
        <p:spPr>
          <a:xfrm>
            <a:off x="1697231" y="1482907"/>
            <a:ext cx="5882829" cy="2837105"/>
          </a:xfrm>
          <a:prstGeom prst="rect">
            <a:avLst/>
          </a:prstGeom>
        </p:spPr>
      </p:pic>
    </p:spTree>
    <p:extLst>
      <p:ext uri="{BB962C8B-B14F-4D97-AF65-F5344CB8AC3E}">
        <p14:creationId xmlns:p14="http://schemas.microsoft.com/office/powerpoint/2010/main" val="2190085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6E965C3-616E-5EF5-03CB-3D58813E1235}"/>
              </a:ext>
            </a:extLst>
          </p:cNvPr>
          <p:cNvPicPr>
            <a:picLocks noChangeAspect="1"/>
          </p:cNvPicPr>
          <p:nvPr/>
        </p:nvPicPr>
        <p:blipFill>
          <a:blip r:embed="rId2"/>
          <a:stretch>
            <a:fillRect/>
          </a:stretch>
        </p:blipFill>
        <p:spPr>
          <a:xfrm>
            <a:off x="1465262" y="1187767"/>
            <a:ext cx="6213475" cy="2767965"/>
          </a:xfrm>
          <a:prstGeom prst="rect">
            <a:avLst/>
          </a:prstGeom>
        </p:spPr>
      </p:pic>
    </p:spTree>
    <p:extLst>
      <p:ext uri="{BB962C8B-B14F-4D97-AF65-F5344CB8AC3E}">
        <p14:creationId xmlns:p14="http://schemas.microsoft.com/office/powerpoint/2010/main" val="1703102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BD34C2-0F21-45A8-D96D-D460258017A1}"/>
              </a:ext>
            </a:extLst>
          </p:cNvPr>
          <p:cNvPicPr>
            <a:picLocks noChangeAspect="1"/>
          </p:cNvPicPr>
          <p:nvPr/>
        </p:nvPicPr>
        <p:blipFill>
          <a:blip r:embed="rId2"/>
          <a:stretch>
            <a:fillRect/>
          </a:stretch>
        </p:blipFill>
        <p:spPr>
          <a:xfrm>
            <a:off x="1465262" y="1369060"/>
            <a:ext cx="6213475" cy="2405380"/>
          </a:xfrm>
          <a:prstGeom prst="rect">
            <a:avLst/>
          </a:prstGeom>
        </p:spPr>
      </p:pic>
      <p:sp>
        <p:nvSpPr>
          <p:cNvPr id="6" name="TextBox 5">
            <a:extLst>
              <a:ext uri="{FF2B5EF4-FFF2-40B4-BE49-F238E27FC236}">
                <a16:creationId xmlns:a16="http://schemas.microsoft.com/office/drawing/2014/main" id="{F7B84161-3C86-8E6F-8EB2-A0F25AC90E93}"/>
              </a:ext>
            </a:extLst>
          </p:cNvPr>
          <p:cNvSpPr txBox="1"/>
          <p:nvPr/>
        </p:nvSpPr>
        <p:spPr>
          <a:xfrm>
            <a:off x="707180" y="657570"/>
            <a:ext cx="4650940" cy="382092"/>
          </a:xfrm>
          <a:prstGeom prst="rect">
            <a:avLst/>
          </a:prstGeom>
          <a:noFill/>
        </p:spPr>
        <p:txBody>
          <a:bodyPr wrap="square">
            <a:spAutoFit/>
          </a:bodyPr>
          <a:lstStyle/>
          <a:p>
            <a:pPr marL="14605" algn="just">
              <a:lnSpc>
                <a:spcPct val="150000"/>
              </a:lnSpc>
              <a:spcBef>
                <a:spcPts val="385"/>
              </a:spcBef>
              <a:buNone/>
            </a:pPr>
            <a:r>
              <a:rPr lang="en-US" sz="1400" b="1" u="sng" dirty="0">
                <a:effectLst/>
                <a:latin typeface="Calibri" panose="020F0502020204030204" pitchFamily="34" charset="0"/>
                <a:ea typeface="Calibri" panose="020F0502020204030204" pitchFamily="34" charset="0"/>
              </a:rPr>
              <a:t> HTML Download Report</a:t>
            </a:r>
            <a:endParaRPr lang="en-IN" sz="12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442424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3365BE-C7B2-3259-5056-1E0E084D3754}"/>
              </a:ext>
            </a:extLst>
          </p:cNvPr>
          <p:cNvSpPr txBox="1"/>
          <p:nvPr/>
        </p:nvSpPr>
        <p:spPr>
          <a:xfrm>
            <a:off x="542720" y="664148"/>
            <a:ext cx="4650940" cy="382092"/>
          </a:xfrm>
          <a:prstGeom prst="rect">
            <a:avLst/>
          </a:prstGeom>
          <a:noFill/>
        </p:spPr>
        <p:txBody>
          <a:bodyPr wrap="square">
            <a:spAutoFit/>
          </a:bodyPr>
          <a:lstStyle/>
          <a:p>
            <a:pPr marL="14605" algn="just">
              <a:lnSpc>
                <a:spcPct val="150000"/>
              </a:lnSpc>
              <a:spcBef>
                <a:spcPts val="385"/>
              </a:spcBef>
              <a:buNone/>
            </a:pPr>
            <a:r>
              <a:rPr lang="en-US" sz="1400" b="1" u="sng" dirty="0">
                <a:effectLst/>
                <a:latin typeface="Calibri" panose="020F0502020204030204" pitchFamily="34" charset="0"/>
                <a:ea typeface="Calibri" panose="020F0502020204030204" pitchFamily="34" charset="0"/>
              </a:rPr>
              <a:t>User Dashboard Interface</a:t>
            </a:r>
            <a:endParaRPr lang="en-IN" sz="1200" dirty="0">
              <a:effectLst/>
              <a:latin typeface="Calibri" panose="020F0502020204030204" pitchFamily="34" charset="0"/>
              <a:ea typeface="Calibri" panose="020F0502020204030204" pitchFamily="34" charset="0"/>
            </a:endParaRPr>
          </a:p>
        </p:txBody>
      </p:sp>
      <p:pic>
        <p:nvPicPr>
          <p:cNvPr id="6" name="Picture 5">
            <a:extLst>
              <a:ext uri="{FF2B5EF4-FFF2-40B4-BE49-F238E27FC236}">
                <a16:creationId xmlns:a16="http://schemas.microsoft.com/office/drawing/2014/main" id="{C82FBBA2-B5D2-E87B-06DE-10B22540A294}"/>
              </a:ext>
            </a:extLst>
          </p:cNvPr>
          <p:cNvPicPr>
            <a:picLocks noChangeAspect="1"/>
          </p:cNvPicPr>
          <p:nvPr/>
        </p:nvPicPr>
        <p:blipFill>
          <a:blip r:embed="rId2"/>
          <a:stretch>
            <a:fillRect/>
          </a:stretch>
        </p:blipFill>
        <p:spPr>
          <a:xfrm>
            <a:off x="4330323" y="426342"/>
            <a:ext cx="3572125" cy="4396069"/>
          </a:xfrm>
          <a:prstGeom prst="rect">
            <a:avLst/>
          </a:prstGeom>
        </p:spPr>
      </p:pic>
    </p:spTree>
    <p:extLst>
      <p:ext uri="{BB962C8B-B14F-4D97-AF65-F5344CB8AC3E}">
        <p14:creationId xmlns:p14="http://schemas.microsoft.com/office/powerpoint/2010/main" val="3332479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9BE85-DB24-ACB6-8FBC-E293D61DCB88}"/>
              </a:ext>
            </a:extLst>
          </p:cNvPr>
          <p:cNvSpPr>
            <a:spLocks noGrp="1"/>
          </p:cNvSpPr>
          <p:nvPr>
            <p:ph type="title"/>
          </p:nvPr>
        </p:nvSpPr>
        <p:spPr/>
        <p:txBody>
          <a:bodyPr/>
          <a:lstStyle/>
          <a:p>
            <a:r>
              <a:rPr lang="en-IN" dirty="0"/>
              <a:t>Thank You!</a:t>
            </a:r>
          </a:p>
        </p:txBody>
      </p:sp>
    </p:spTree>
    <p:extLst>
      <p:ext uri="{BB962C8B-B14F-4D97-AF65-F5344CB8AC3E}">
        <p14:creationId xmlns:p14="http://schemas.microsoft.com/office/powerpoint/2010/main" val="355010161"/>
      </p:ext>
    </p:extLst>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TotalTime>
  <Words>1041</Words>
  <Application>Microsoft Office PowerPoint</Application>
  <PresentationFormat>On-screen Show (16:9)</PresentationFormat>
  <Paragraphs>75</Paragraphs>
  <Slides>20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Arial Unicode MS</vt:lpstr>
      <vt:lpstr>Montserrat</vt:lpstr>
      <vt:lpstr>Vidaloka</vt:lpstr>
      <vt:lpstr>Minimalist Business Slides XL by Slidesgo</vt:lpstr>
      <vt:lpstr>WebSage: AI-Powered Web Scraping and Semantic Analysis Framework for Product Insights and Decision Support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Gayatri M</dc:creator>
  <cp:lastModifiedBy>Gayatri M</cp:lastModifiedBy>
  <cp:revision>16</cp:revision>
  <dcterms:modified xsi:type="dcterms:W3CDTF">2026-03-22T06:23:58Z</dcterms:modified>
</cp:coreProperties>
</file>